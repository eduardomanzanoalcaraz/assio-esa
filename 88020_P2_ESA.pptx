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al equipo: A, ingeniería mecánica; B, aviónica y software; C, compras y configuración. Asignatura: Administración de Servicios de Sistemas Operativos. Fuente: ASSIO_P2.pdf.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tres cuentas trabajan en aurora6. Mostrar whoami, hostname, pwd y la estructura de /, /home y /root. ls -ld /root solo muestra metadatos. Explicar el uso de cuenta ordinaria y sudo puntual.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Seis áreas: ingenieria (mecanica, avionica, software), compras (proveedores, pedidos), contabilidad/facturas, documentacion/comun, confidencial e intercambio (incoming, approved, quarantine). Evidencia: Crear el arbol (Apartado 2).png. Comprobación: find /srv/aurora6 -type d.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pertenece a mecanica; B a avionica y software; C a compras. Todos pertenecen a proyecto. Comprobar id y groups. Las membresías están acreditadas para los tres.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7=rwx propietario, 5=r-x grupo y 1=--x otros. En directorios, x permite atravesar la ruta, r listar nombres y w modificar entradas. Para crear/borrar se necesita normalmente w y x. El permiso de los padres y del archivo también cuenta. 751 es temporal: documentacion termina con 750 en la política final. Evidencia: Resultados permiso 751 (Apartado 4).png.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configura mecanica y la ACL de lectura de B. B configura avionica/software y la ACL de lectura de A en avionica. C configura compras. SGID hereda el grupo en nuevos elementos. ACL de acceso: recurso actual. ACL predeterminada: nuevos elementos, limitada por el modo de creación. La máscara limita usuarios nombrados y grupos. Software aparece como usuario_b:avionica en las capturas. Las ACL permiten lectura individual sin abrir escritura ni cambiar el grupo departamental.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Documentación común es root:proyecto 2750. Contabilidad: C tiene --x para atravesar el padre sin listarlo. Facturas: C r-x, sin escritura, con ACL predeterminada. Confidencial: root:root 700 y administración con sudo. Común y las ACL de facturas aparecen configurados por alex con sudo; no atribuir esas órdenes a C.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usuario_a con whoami e id. echo escribe Informe de ensayo estructural en ingenieria/mecanica/ensayo_a.txt y cat lo confirma. cat ingenieria/avionica/telemetria_b.txt devuelve Datos de telemetria v1. touch ingenieria/avionica/intruso_a.txt devuelve Permission denied. ls confidencial devuelve Permiso denegado. getfacl ingenieria/mecanica acredita B r-x y máscara rwx. Todas las rutas parten de /srv/aurora6.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usuario_b con whoami e id. echo escribe Datos de telemetria v1 en ingenieria/avionica/telemetria_b.txt y cat lo confirma. cat ingenieria/mecanica/ensayo_a.txt devuelve Informe de ensayo estructural. touch ingenieria/mecanica/intruso_b.txt devuelve Permission denied. ls contabilidad devuelve Permiso denegado. getfacl ingenieria/avionica acredita A r-x y máscara rwx. Todas las rutas parten de /srv/aurora6.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usuario_c con whoami e id. echo escribe Pedido 001 - 200 tornillos M6 en compras/pedidos/pedido_001.txt y cat lo confirma. cat contabilidad/facturas/factura_001.txt devuelve Factura 001 - Proveedor X - 1500 EUR. touch ingenieria/mecanica/intruso_c.txt devuelve Permission denied al establecer tiempos: describir modificación denegada. ls confidencial devuelve Permiso denegado. getfacl contabilidad/facturas acredita C r-x y máscara r-x. Todas las rutas parten de /srv/aurora6.</a:t>
            </a:r>
          </a:p>
          <a:p>
            <a:r>
              <a:t>Fuente: ASSIO_P2.pdf, apartados 1–6, y capturas aportadas por 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05F833-1BD6-4073-84C8-11468699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0E89EB8-B54C-4FAD-B476-3EABBDFE7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298F365-359F-47CE-84B2-5152F04E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96E0982-7978-4D2D-B267-B066659C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B1D4EB3-AA8A-4FD1-BED1-23DE3305D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7E7B80A-6D6B-4164-B100-378EA33E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1EA84E-0002-4663-B24A-291E107DA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A19F0BB-32D0-4044-A8CB-8D8AA1857A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9C7EF6-13D7-4295-B699-0086FBF4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288AE24-7FB4-43A8-871A-F56C3770A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RORA-6">
            <a:extLst>
              <a:ext uri="{FF2B5EF4-FFF2-40B4-BE49-F238E27FC236}">
                <a16:creationId xmlns:a16="http://schemas.microsoft.com/office/drawing/2014/main" id="{04AC2DA7-9213-49C7-8291-F3BD5DEAA34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858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54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54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AURORA-6</a:t>
            </a:r>
          </a:p>
        </p:txBody>
      </p:sp>
      <p:sp>
        <p:nvSpPr>
          <p:cNvPr id="2" name="Práctica 2 · ASSIO">
            <a:extLst>
              <a:ext uri="{FF2B5EF4-FFF2-40B4-BE49-F238E27FC236}">
                <a16:creationId xmlns:a16="http://schemas.microsoft.com/office/drawing/2014/main" id="{32668D3D-6CD6-45D8-ADC5-19235FCC82DA}"/>
              </a:ext>
            </a:extLst>
          </p:cNvPr>
          <p:cNvSpPr>
            <a:spLocks noGrp="1"/>
          </p:cNvSpPr>
          <p:nvPr/>
        </p:nvSpPr>
        <p:spPr>
          <a:xfrm>
            <a:off x="628650" y="265747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262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Práctica 2 · ASSIO</a:t>
            </a:r>
          </a:p>
        </p:txBody>
      </p:sp>
      <p:sp>
        <p:nvSpPr>
          <p:cNvPr id="3" name="Sistema de archivos, usuarios y permisos">
            <a:extLst>
              <a:ext uri="{FF2B5EF4-FFF2-40B4-BE49-F238E27FC236}">
                <a16:creationId xmlns:a16="http://schemas.microsoft.com/office/drawing/2014/main" id="{EB825605-DB37-40BE-8847-E510E75F239F}"/>
              </a:ext>
            </a:extLst>
          </p:cNvPr>
          <p:cNvSpPr>
            <a:spLocks noGrp="1"/>
          </p:cNvSpPr>
          <p:nvPr/>
        </p:nvSpPr>
        <p:spPr>
          <a:xfrm>
            <a:off x="628650" y="33623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21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Sistema de archivos, usuarios y permisos</a:t>
            </a:r>
          </a:p>
        </p:txBody>
      </p:sp>
      <p:sp>
        <p:nvSpPr>
          <p:cNvPr id="4" name="Integrantes: [añadir nombres]">
            <a:extLst>
              <a:ext uri="{FF2B5EF4-FFF2-40B4-BE49-F238E27FC236}">
                <a16:creationId xmlns:a16="http://schemas.microsoft.com/office/drawing/2014/main" id="{619C1FA2-41E3-4282-A02D-FD5481275D09}"/>
              </a:ext>
            </a:extLst>
          </p:cNvPr>
          <p:cNvSpPr>
            <a:spLocks noGrp="1"/>
          </p:cNvSpPr>
          <p:nvPr/>
        </p:nvSpPr>
        <p:spPr>
          <a:xfrm>
            <a:off x="628650" y="485775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Integrantes: [añadir nombres]</a:t>
            </a:r>
          </a:p>
        </p:txBody>
      </p:sp>
      <p:sp>
        <p:nvSpPr>
          <p:cNvPr id="5" name="88020 · Domingo Sampedro Lirio">
            <a:extLst>
              <a:ext uri="{FF2B5EF4-FFF2-40B4-BE49-F238E27FC236}">
                <a16:creationId xmlns:a16="http://schemas.microsoft.com/office/drawing/2014/main" id="{EDCA37CA-B66F-4448-B711-CAA7541D5F76}"/>
              </a:ext>
            </a:extLst>
          </p:cNvPr>
          <p:cNvSpPr>
            <a:spLocks noGrp="1"/>
          </p:cNvSpPr>
          <p:nvPr/>
        </p:nvSpPr>
        <p:spPr>
          <a:xfrm>
            <a:off x="628650" y="54292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88020 · Domingo Sampedro Lirio</a:t>
            </a:r>
          </a:p>
        </p:txBody>
      </p:sp>
    </p:spTree>
    <p:extLst>
      <p:ext uri="{BB962C8B-B14F-4D97-AF65-F5344CB8AC3E}">
        <p14:creationId xmlns:p14="http://schemas.microsoft.com/office/powerpoint/2010/main" val="125853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Primer acceso">
            <a:extLst>
              <a:ext uri="{FF2B5EF4-FFF2-40B4-BE49-F238E27FC236}">
                <a16:creationId xmlns:a16="http://schemas.microsoft.com/office/drawing/2014/main" id="{EE32C04D-80C5-4ABB-90AE-B39BD82B353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1. Primer acceso</a:t>
            </a:r>
          </a:p>
        </p:txBody>
      </p:sp>
      <p:sp>
        <p:nvSpPr>
          <p:cNvPr id="2" name="Identidad, equipo y directorio personal">
            <a:extLst>
              <a:ext uri="{FF2B5EF4-FFF2-40B4-BE49-F238E27FC236}">
                <a16:creationId xmlns:a16="http://schemas.microsoft.com/office/drawing/2014/main" id="{C27B1A36-C38D-4682-B233-843BD8983F5D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Identidad, equipo y directorio personal</a:t>
            </a:r>
          </a:p>
        </p:txBody>
      </p:sp>
      <p:sp>
        <p:nvSpPr>
          <p:cNvPr id="3" name="whoami, hostname y pwd confirman cada sesión en aurora6.&#10;Revisamos los permisos de /, /home y /root y usamos sudo para administrar.">
            <a:extLst>
              <a:ext uri="{FF2B5EF4-FFF2-40B4-BE49-F238E27FC236}">
                <a16:creationId xmlns:a16="http://schemas.microsoft.com/office/drawing/2014/main" id="{5BE18518-84D5-4A01-AC34-4A3131822DF1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whoami, hostname y pwd confirman cada sesión en aurora6.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Revisamos los permisos de /, /home y /root y usamos sudo para administrar.</a:t>
            </a:r>
          </a:p>
        </p:txBody>
      </p:sp>
      <p:sp>
        <p:nvSpPr>
          <p:cNvPr id="7" name="Apoyo: whoami">
            <a:extLst>
              <a:ext uri="{FF2B5EF4-FFF2-40B4-BE49-F238E27FC236}">
                <a16:creationId xmlns:a16="http://schemas.microsoft.com/office/drawing/2014/main" id="{4A824D3B-DE34-4730-AA62-8D064869A1AC}"/>
              </a:ext>
            </a:extLst>
          </p:cNvPr>
          <p:cNvSpPr>
            <a:spLocks noGrp="1"/>
          </p:cNvSpPr>
          <p:nvPr/>
        </p:nvSpPr>
        <p:spPr>
          <a:xfrm>
            <a:off x="619125" y="32575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whoami</a:t>
            </a:r>
          </a:p>
        </p:txBody>
      </p:sp>
      <p:sp>
        <p:nvSpPr>
          <p:cNvPr id="8" name="Apoyo: Usuario que mantiene la sesión activa">
            <a:extLst>
              <a:ext uri="{FF2B5EF4-FFF2-40B4-BE49-F238E27FC236}">
                <a16:creationId xmlns:a16="http://schemas.microsoft.com/office/drawing/2014/main" id="{4DDF5943-D6B0-403F-B993-5979B8D07D48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Usuario que mantiene la sesión activa</a:t>
            </a:r>
          </a:p>
        </p:txBody>
      </p:sp>
      <p:sp>
        <p:nvSpPr>
          <p:cNvPr id="9" name="Apoyo: hostname">
            <a:extLst>
              <a:ext uri="{FF2B5EF4-FFF2-40B4-BE49-F238E27FC236}">
                <a16:creationId xmlns:a16="http://schemas.microsoft.com/office/drawing/2014/main" id="{FE2DC790-BD89-4DBC-9118-434438240B09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hostname</a:t>
            </a:r>
          </a:p>
        </p:txBody>
      </p:sp>
      <p:sp>
        <p:nvSpPr>
          <p:cNvPr id="10" name="Apoyo: Nombre del servidor: aurora6">
            <a:extLst>
              <a:ext uri="{FF2B5EF4-FFF2-40B4-BE49-F238E27FC236}">
                <a16:creationId xmlns:a16="http://schemas.microsoft.com/office/drawing/2014/main" id="{AFE55225-77E6-485B-824D-599A9C503255}"/>
              </a:ext>
            </a:extLst>
          </p:cNvPr>
          <p:cNvSpPr>
            <a:spLocks noGrp="1"/>
          </p:cNvSpPr>
          <p:nvPr/>
        </p:nvSpPr>
        <p:spPr>
          <a:xfrm>
            <a:off x="3810000" y="40481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Nombre del servidor: aurora6</a:t>
            </a:r>
          </a:p>
        </p:txBody>
      </p:sp>
      <p:sp>
        <p:nvSpPr>
          <p:cNvPr id="11" name="Apoyo: pwd">
            <a:extLst>
              <a:ext uri="{FF2B5EF4-FFF2-40B4-BE49-F238E27FC236}">
                <a16:creationId xmlns:a16="http://schemas.microsoft.com/office/drawing/2014/main" id="{F807DF90-A8BC-4C7C-9701-EF9B3DFFF23F}"/>
              </a:ext>
            </a:extLst>
          </p:cNvPr>
          <p:cNvSpPr>
            <a:spLocks noGrp="1"/>
          </p:cNvSpPr>
          <p:nvPr/>
        </p:nvSpPr>
        <p:spPr>
          <a:xfrm>
            <a:off x="619125" y="48387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pwd</a:t>
            </a:r>
          </a:p>
        </p:txBody>
      </p:sp>
      <p:sp>
        <p:nvSpPr>
          <p:cNvPr id="12" name="Apoyo: Directorio personal: /home/usuario_*">
            <a:extLst>
              <a:ext uri="{FF2B5EF4-FFF2-40B4-BE49-F238E27FC236}">
                <a16:creationId xmlns:a16="http://schemas.microsoft.com/office/drawing/2014/main" id="{81B8833E-392F-42BC-A215-84263CD2B03F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Directorio personal: /home/usuario_*</a:t>
            </a:r>
          </a:p>
        </p:txBody>
      </p:sp>
      <p:sp>
        <p:nvSpPr>
          <p:cNvPr id="13" name="Apoyo: Trabajo sin root">
            <a:extLst>
              <a:ext uri="{FF2B5EF4-FFF2-40B4-BE49-F238E27FC236}">
                <a16:creationId xmlns:a16="http://schemas.microsoft.com/office/drawing/2014/main" id="{8F040C33-E197-4AF8-A1F3-4C72020900B6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Trabajo sin root</a:t>
            </a:r>
          </a:p>
        </p:txBody>
      </p:sp>
      <p:sp>
        <p:nvSpPr>
          <p:cNvPr id="14" name="Apoyo: Una cuenta ordinaria limita el impacto de los errores.">
            <a:extLst>
              <a:ext uri="{FF2B5EF4-FFF2-40B4-BE49-F238E27FC236}">
                <a16:creationId xmlns:a16="http://schemas.microsoft.com/office/drawing/2014/main" id="{7ADE5822-654F-4759-92AC-53BBFAC7E67C}"/>
              </a:ext>
            </a:extLst>
          </p:cNvPr>
          <p:cNvSpPr>
            <a:spLocks noGrp="1"/>
          </p:cNvSpPr>
          <p:nvPr/>
        </p:nvSpPr>
        <p:spPr>
          <a:xfrm>
            <a:off x="3810000" y="56292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Una cuenta ordinaria limita el impacto de los errores.</a:t>
            </a:r>
          </a:p>
        </p:txBody>
      </p:sp>
    </p:spTree>
    <p:extLst>
      <p:ext uri="{BB962C8B-B14F-4D97-AF65-F5344CB8AC3E}">
        <p14:creationId xmlns:p14="http://schemas.microsoft.com/office/powerpoint/2010/main" val="66410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16C35-375A-8208-AB03-D87DDE14D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6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. Árbol de directorios">
            <a:extLst>
              <a:ext uri="{FF2B5EF4-FFF2-40B4-BE49-F238E27FC236}">
                <a16:creationId xmlns:a16="http://schemas.microsoft.com/office/drawing/2014/main" id="{6814777C-CE5B-4188-9C00-342B95B8A16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2. Árbol de directorios</a:t>
            </a:r>
          </a:p>
        </p:txBody>
      </p:sp>
      <p:sp>
        <p:nvSpPr>
          <p:cNvPr id="2" name="/srv/aurora6">
            <a:extLst>
              <a:ext uri="{FF2B5EF4-FFF2-40B4-BE49-F238E27FC236}">
                <a16:creationId xmlns:a16="http://schemas.microsoft.com/office/drawing/2014/main" id="{985A015F-B447-4FAE-A48C-423B6B050502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/srv/aurora6</a:t>
            </a:r>
          </a:p>
        </p:txBody>
      </p:sp>
      <p:sp>
        <p:nvSpPr>
          <p:cNvPr id="3" name="Seis áreas organizan ingeniería, compras, contabilidad, documentación,&#10;confidencial e intercambio. Comprobamos el árbol con find -type d.">
            <a:extLst>
              <a:ext uri="{FF2B5EF4-FFF2-40B4-BE49-F238E27FC236}">
                <a16:creationId xmlns:a16="http://schemas.microsoft.com/office/drawing/2014/main" id="{8DB67AEA-CD65-4D6F-A981-AF04301A0FC4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Seis áreas organizan ingeniería, compras, contabilidad, documentación,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confidencial e intercambio. Comprobamos el árbol con find -type d.</a:t>
            </a:r>
          </a:p>
        </p:txBody>
      </p:sp>
      <p:sp>
        <p:nvSpPr>
          <p:cNvPr id="7" name="Apoyo: ingenieria">
            <a:extLst>
              <a:ext uri="{FF2B5EF4-FFF2-40B4-BE49-F238E27FC236}">
                <a16:creationId xmlns:a16="http://schemas.microsoft.com/office/drawing/2014/main" id="{5EE07061-9726-4AD7-8BEB-D9A24809D20F}"/>
              </a:ext>
            </a:extLst>
          </p:cNvPr>
          <p:cNvSpPr>
            <a:spLocks noGrp="1"/>
          </p:cNvSpPr>
          <p:nvPr/>
        </p:nvSpPr>
        <p:spPr>
          <a:xfrm>
            <a:off x="619125" y="31432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ingenieria</a:t>
            </a:r>
          </a:p>
        </p:txBody>
      </p:sp>
      <p:sp>
        <p:nvSpPr>
          <p:cNvPr id="8" name="Apoyo: mecanica, avionica, software">
            <a:extLst>
              <a:ext uri="{FF2B5EF4-FFF2-40B4-BE49-F238E27FC236}">
                <a16:creationId xmlns:a16="http://schemas.microsoft.com/office/drawing/2014/main" id="{9374BC12-778F-4EE9-AB5C-FCC74835BF48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mecanica, avionica, software</a:t>
            </a:r>
          </a:p>
        </p:txBody>
      </p:sp>
      <p:sp>
        <p:nvSpPr>
          <p:cNvPr id="9" name="Apoyo: compras">
            <a:extLst>
              <a:ext uri="{FF2B5EF4-FFF2-40B4-BE49-F238E27FC236}">
                <a16:creationId xmlns:a16="http://schemas.microsoft.com/office/drawing/2014/main" id="{E146B50F-8DA1-4D59-B490-9A300ADD57CF}"/>
              </a:ext>
            </a:extLst>
          </p:cNvPr>
          <p:cNvSpPr>
            <a:spLocks noGrp="1"/>
          </p:cNvSpPr>
          <p:nvPr/>
        </p:nvSpPr>
        <p:spPr>
          <a:xfrm>
            <a:off x="619125" y="36480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compras</a:t>
            </a:r>
          </a:p>
        </p:txBody>
      </p:sp>
      <p:sp>
        <p:nvSpPr>
          <p:cNvPr id="10" name="Apoyo: proveedores, pedidos">
            <a:extLst>
              <a:ext uri="{FF2B5EF4-FFF2-40B4-BE49-F238E27FC236}">
                <a16:creationId xmlns:a16="http://schemas.microsoft.com/office/drawing/2014/main" id="{8B75C79F-E452-40CB-8F91-91AE6A980779}"/>
              </a:ext>
            </a:extLst>
          </p:cNvPr>
          <p:cNvSpPr>
            <a:spLocks noGrp="1"/>
          </p:cNvSpPr>
          <p:nvPr/>
        </p:nvSpPr>
        <p:spPr>
          <a:xfrm>
            <a:off x="3810000" y="36480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proveedores, pedidos</a:t>
            </a:r>
          </a:p>
        </p:txBody>
      </p:sp>
      <p:sp>
        <p:nvSpPr>
          <p:cNvPr id="11" name="Apoyo: contabilidad">
            <a:extLst>
              <a:ext uri="{FF2B5EF4-FFF2-40B4-BE49-F238E27FC236}">
                <a16:creationId xmlns:a16="http://schemas.microsoft.com/office/drawing/2014/main" id="{6A889EFC-B085-4351-83BD-6AC628E59497}"/>
              </a:ext>
            </a:extLst>
          </p:cNvPr>
          <p:cNvSpPr>
            <a:spLocks noGrp="1"/>
          </p:cNvSpPr>
          <p:nvPr/>
        </p:nvSpPr>
        <p:spPr>
          <a:xfrm>
            <a:off x="619125" y="41529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contabilidad</a:t>
            </a:r>
          </a:p>
        </p:txBody>
      </p:sp>
      <p:sp>
        <p:nvSpPr>
          <p:cNvPr id="12" name="Apoyo: facturas">
            <a:extLst>
              <a:ext uri="{FF2B5EF4-FFF2-40B4-BE49-F238E27FC236}">
                <a16:creationId xmlns:a16="http://schemas.microsoft.com/office/drawing/2014/main" id="{32D131B7-DD88-4D02-A4C7-7BA75E9DECD3}"/>
              </a:ext>
            </a:extLst>
          </p:cNvPr>
          <p:cNvSpPr>
            <a:spLocks noGrp="1"/>
          </p:cNvSpPr>
          <p:nvPr/>
        </p:nvSpPr>
        <p:spPr>
          <a:xfrm>
            <a:off x="3810000" y="41529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facturas</a:t>
            </a:r>
          </a:p>
        </p:txBody>
      </p:sp>
      <p:sp>
        <p:nvSpPr>
          <p:cNvPr id="13" name="Apoyo: documentacion">
            <a:extLst>
              <a:ext uri="{FF2B5EF4-FFF2-40B4-BE49-F238E27FC236}">
                <a16:creationId xmlns:a16="http://schemas.microsoft.com/office/drawing/2014/main" id="{28A64C20-87E8-4B56-8E1B-E453540D3046}"/>
              </a:ext>
            </a:extLst>
          </p:cNvPr>
          <p:cNvSpPr>
            <a:spLocks noGrp="1"/>
          </p:cNvSpPr>
          <p:nvPr/>
        </p:nvSpPr>
        <p:spPr>
          <a:xfrm>
            <a:off x="619125" y="465772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documentacion</a:t>
            </a:r>
          </a:p>
        </p:txBody>
      </p:sp>
      <p:sp>
        <p:nvSpPr>
          <p:cNvPr id="14" name="Apoyo: comun">
            <a:extLst>
              <a:ext uri="{FF2B5EF4-FFF2-40B4-BE49-F238E27FC236}">
                <a16:creationId xmlns:a16="http://schemas.microsoft.com/office/drawing/2014/main" id="{0893F736-86A1-40BF-A15D-B90D56DA7758}"/>
              </a:ext>
            </a:extLst>
          </p:cNvPr>
          <p:cNvSpPr>
            <a:spLocks noGrp="1"/>
          </p:cNvSpPr>
          <p:nvPr/>
        </p:nvSpPr>
        <p:spPr>
          <a:xfrm>
            <a:off x="3810000" y="46577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comun</a:t>
            </a:r>
          </a:p>
        </p:txBody>
      </p:sp>
      <p:sp>
        <p:nvSpPr>
          <p:cNvPr id="15" name="Apoyo: confidencial">
            <a:extLst>
              <a:ext uri="{FF2B5EF4-FFF2-40B4-BE49-F238E27FC236}">
                <a16:creationId xmlns:a16="http://schemas.microsoft.com/office/drawing/2014/main" id="{49670875-456F-416D-BC12-D56EFA15298A}"/>
              </a:ext>
            </a:extLst>
          </p:cNvPr>
          <p:cNvSpPr>
            <a:spLocks noGrp="1"/>
          </p:cNvSpPr>
          <p:nvPr/>
        </p:nvSpPr>
        <p:spPr>
          <a:xfrm>
            <a:off x="619125" y="51625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confidencial</a:t>
            </a:r>
          </a:p>
        </p:txBody>
      </p:sp>
      <p:sp>
        <p:nvSpPr>
          <p:cNvPr id="16" name="Apoyo: Directorio reservado para administración">
            <a:extLst>
              <a:ext uri="{FF2B5EF4-FFF2-40B4-BE49-F238E27FC236}">
                <a16:creationId xmlns:a16="http://schemas.microsoft.com/office/drawing/2014/main" id="{290FFBD4-E531-46DF-8643-727F16D152C4}"/>
              </a:ext>
            </a:extLst>
          </p:cNvPr>
          <p:cNvSpPr>
            <a:spLocks noGrp="1"/>
          </p:cNvSpPr>
          <p:nvPr/>
        </p:nvSpPr>
        <p:spPr>
          <a:xfrm>
            <a:off x="3810000" y="51625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Directorio reservado para administración</a:t>
            </a:r>
          </a:p>
        </p:txBody>
      </p:sp>
      <p:sp>
        <p:nvSpPr>
          <p:cNvPr id="17" name="Apoyo: intercambio">
            <a:extLst>
              <a:ext uri="{FF2B5EF4-FFF2-40B4-BE49-F238E27FC236}">
                <a16:creationId xmlns:a16="http://schemas.microsoft.com/office/drawing/2014/main" id="{BCB06990-AB04-44C9-BB85-CE81AAEF9F5F}"/>
              </a:ext>
            </a:extLst>
          </p:cNvPr>
          <p:cNvSpPr>
            <a:spLocks noGrp="1"/>
          </p:cNvSpPr>
          <p:nvPr/>
        </p:nvSpPr>
        <p:spPr>
          <a:xfrm>
            <a:off x="619125" y="56673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intercambio</a:t>
            </a:r>
          </a:p>
        </p:txBody>
      </p:sp>
      <p:sp>
        <p:nvSpPr>
          <p:cNvPr id="18" name="Apoyo: incoming, approved, quarantine">
            <a:extLst>
              <a:ext uri="{FF2B5EF4-FFF2-40B4-BE49-F238E27FC236}">
                <a16:creationId xmlns:a16="http://schemas.microsoft.com/office/drawing/2014/main" id="{B2BB4569-9602-4AC6-BDBA-5203CA16252F}"/>
              </a:ext>
            </a:extLst>
          </p:cNvPr>
          <p:cNvSpPr>
            <a:spLocks noGrp="1"/>
          </p:cNvSpPr>
          <p:nvPr/>
        </p:nvSpPr>
        <p:spPr>
          <a:xfrm>
            <a:off x="3810000" y="56673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incoming, approved, quarantine</a:t>
            </a:r>
          </a:p>
        </p:txBody>
      </p:sp>
    </p:spTree>
    <p:extLst>
      <p:ext uri="{BB962C8B-B14F-4D97-AF65-F5344CB8AC3E}">
        <p14:creationId xmlns:p14="http://schemas.microsoft.com/office/powerpoint/2010/main" val="14979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44FFF-F59D-8B5E-1993-8F30722F2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1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3. Usuarios, grupos y roles">
            <a:extLst>
              <a:ext uri="{FF2B5EF4-FFF2-40B4-BE49-F238E27FC236}">
                <a16:creationId xmlns:a16="http://schemas.microsoft.com/office/drawing/2014/main" id="{B2BF81EE-BAFB-45DB-9D87-B1AC0F7EB5B8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3. Usuarios, grupos y roles</a:t>
            </a:r>
          </a:p>
        </p:txBody>
      </p:sp>
      <p:sp>
        <p:nvSpPr>
          <p:cNvPr id="2" name="A: mecánica     B: aviónica y software     C: compras">
            <a:extLst>
              <a:ext uri="{FF2B5EF4-FFF2-40B4-BE49-F238E27FC236}">
                <a16:creationId xmlns:a16="http://schemas.microsoft.com/office/drawing/2014/main" id="{E8B7E707-9C4B-484C-B92B-83CE96984D63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A: mecánica     B: aviónica y software     C: compras</a:t>
            </a:r>
          </a:p>
        </p:txBody>
      </p:sp>
      <p:sp>
        <p:nvSpPr>
          <p:cNvPr id="3" name="Cada cuenta pertenece a su departamento y al grupo común proyecto.&#10;Comprobamos las pertenencias con id y groups.">
            <a:extLst>
              <a:ext uri="{FF2B5EF4-FFF2-40B4-BE49-F238E27FC236}">
                <a16:creationId xmlns:a16="http://schemas.microsoft.com/office/drawing/2014/main" id="{F5B8ECC2-F514-4008-90AA-4AD8DA17125A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Cada cuenta pertenece a su departamento y al grupo común proyecto.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Comprobamos las pertenencias con id y groups.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D21AF-D058-7B9D-E965-4F31F1864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12"/>
          <a:stretch>
            <a:fillRect/>
          </a:stretch>
        </p:blipFill>
        <p:spPr>
          <a:xfrm>
            <a:off x="609600" y="3429000"/>
            <a:ext cx="10972799" cy="233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. Permisos DAC: 751">
            <a:extLst>
              <a:ext uri="{FF2B5EF4-FFF2-40B4-BE49-F238E27FC236}">
                <a16:creationId xmlns:a16="http://schemas.microsoft.com/office/drawing/2014/main" id="{E7A60D22-A62A-4512-92AD-4DD3D2D2A702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4. Permisos DAC: 751</a:t>
            </a:r>
          </a:p>
        </p:txBody>
      </p:sp>
      <p:sp>
        <p:nvSpPr>
          <p:cNvPr id="2" name="documentacion · root:proyecto">
            <a:extLst>
              <a:ext uri="{FF2B5EF4-FFF2-40B4-BE49-F238E27FC236}">
                <a16:creationId xmlns:a16="http://schemas.microsoft.com/office/drawing/2014/main" id="{94BB4246-09AB-4B44-A358-D8B8DF87D6C6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documentacion · root:proyecto</a:t>
            </a:r>
          </a:p>
        </p:txBody>
      </p:sp>
      <p:sp>
        <p:nvSpPr>
          <p:cNvPr id="3" name="7 · rwx">
            <a:extLst>
              <a:ext uri="{FF2B5EF4-FFF2-40B4-BE49-F238E27FC236}">
                <a16:creationId xmlns:a16="http://schemas.microsoft.com/office/drawing/2014/main" id="{945AB78A-1F3C-4690-9AFC-04FB8A9904B2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262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7 · rwx</a:t>
            </a:r>
          </a:p>
        </p:txBody>
      </p:sp>
      <p:sp>
        <p:nvSpPr>
          <p:cNvPr id="4" name="5 · r-x">
            <a:extLst>
              <a:ext uri="{FF2B5EF4-FFF2-40B4-BE49-F238E27FC236}">
                <a16:creationId xmlns:a16="http://schemas.microsoft.com/office/drawing/2014/main" id="{32B6DF61-F834-4134-B7AD-4A78FD24560B}"/>
              </a:ext>
            </a:extLst>
          </p:cNvPr>
          <p:cNvSpPr>
            <a:spLocks noGrp="1"/>
          </p:cNvSpPr>
          <p:nvPr/>
        </p:nvSpPr>
        <p:spPr>
          <a:xfrm>
            <a:off x="4333875" y="19526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262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5 · r-x</a:t>
            </a:r>
          </a:p>
        </p:txBody>
      </p:sp>
      <p:sp>
        <p:nvSpPr>
          <p:cNvPr id="5" name="1 · --x">
            <a:extLst>
              <a:ext uri="{FF2B5EF4-FFF2-40B4-BE49-F238E27FC236}">
                <a16:creationId xmlns:a16="http://schemas.microsoft.com/office/drawing/2014/main" id="{5DA81063-3BC7-47CD-816A-2AB7C901F245}"/>
              </a:ext>
            </a:extLst>
          </p:cNvPr>
          <p:cNvSpPr>
            <a:spLocks noGrp="1"/>
          </p:cNvSpPr>
          <p:nvPr/>
        </p:nvSpPr>
        <p:spPr>
          <a:xfrm>
            <a:off x="8048625" y="19526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262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262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1 · --x</a:t>
            </a:r>
          </a:p>
        </p:txBody>
      </p:sp>
      <p:sp>
        <p:nvSpPr>
          <p:cNvPr id="6" name="Propietario: control total">
            <a:extLst>
              <a:ext uri="{FF2B5EF4-FFF2-40B4-BE49-F238E27FC236}">
                <a16:creationId xmlns:a16="http://schemas.microsoft.com/office/drawing/2014/main" id="{47E04B8E-E4E1-427F-8F37-9BAFAB4E2482}"/>
              </a:ext>
            </a:extLst>
          </p:cNvPr>
          <p:cNvSpPr>
            <a:spLocks noGrp="1"/>
          </p:cNvSpPr>
          <p:nvPr/>
        </p:nvSpPr>
        <p:spPr>
          <a:xfrm>
            <a:off x="619125" y="2505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Propietario: control total</a:t>
            </a:r>
          </a:p>
        </p:txBody>
      </p:sp>
      <p:sp>
        <p:nvSpPr>
          <p:cNvPr id="7" name="Grupo: lectura y acceso">
            <a:extLst>
              <a:ext uri="{FF2B5EF4-FFF2-40B4-BE49-F238E27FC236}">
                <a16:creationId xmlns:a16="http://schemas.microsoft.com/office/drawing/2014/main" id="{653F05DB-A3FB-40A9-A936-51823C09768C}"/>
              </a:ext>
            </a:extLst>
          </p:cNvPr>
          <p:cNvSpPr>
            <a:spLocks noGrp="1"/>
          </p:cNvSpPr>
          <p:nvPr/>
        </p:nvSpPr>
        <p:spPr>
          <a:xfrm>
            <a:off x="4333875" y="2505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Grupo: lectura y acceso</a:t>
            </a:r>
          </a:p>
        </p:txBody>
      </p:sp>
      <p:sp>
        <p:nvSpPr>
          <p:cNvPr id="8" name="Otros: solo atravesar">
            <a:extLst>
              <a:ext uri="{FF2B5EF4-FFF2-40B4-BE49-F238E27FC236}">
                <a16:creationId xmlns:a16="http://schemas.microsoft.com/office/drawing/2014/main" id="{F06603DB-EF01-445A-A691-D1E3E077DE4B}"/>
              </a:ext>
            </a:extLst>
          </p:cNvPr>
          <p:cNvSpPr>
            <a:spLocks noGrp="1"/>
          </p:cNvSpPr>
          <p:nvPr/>
        </p:nvSpPr>
        <p:spPr>
          <a:xfrm>
            <a:off x="8048625" y="2505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650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Otros: solo atravesar</a:t>
            </a:r>
          </a:p>
        </p:txBody>
      </p:sp>
      <p:sp>
        <p:nvSpPr>
          <p:cNvPr id="9" name="En directorios, x permite atravesar la ruta sin listar sus nombres.&#10;751 es temporal. La política final deja documentacion con 750.">
            <a:extLst>
              <a:ext uri="{FF2B5EF4-FFF2-40B4-BE49-F238E27FC236}">
                <a16:creationId xmlns:a16="http://schemas.microsoft.com/office/drawing/2014/main" id="{4AF43469-3BB4-4409-A6E0-5FC5B03A25BD}"/>
              </a:ext>
            </a:extLst>
          </p:cNvPr>
          <p:cNvSpPr>
            <a:spLocks noGrp="1"/>
          </p:cNvSpPr>
          <p:nvPr/>
        </p:nvSpPr>
        <p:spPr>
          <a:xfrm>
            <a:off x="619125" y="30384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72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En directorios, x permite atravesar la ruta sin listar sus nombres.</a:t>
            </a:r>
          </a:p>
          <a:p>
            <a:pPr>
              <a:defRPr sz="172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72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751 es temporal. La política final deja documentacion con 750.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026D28-16DC-6B7B-316D-89AC62A9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45" b="86541"/>
          <a:stretch>
            <a:fillRect/>
          </a:stretch>
        </p:blipFill>
        <p:spPr>
          <a:xfrm>
            <a:off x="1080446" y="4333875"/>
            <a:ext cx="10031107" cy="166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Permisos por rol y ACL">
            <a:extLst>
              <a:ext uri="{FF2B5EF4-FFF2-40B4-BE49-F238E27FC236}">
                <a16:creationId xmlns:a16="http://schemas.microsoft.com/office/drawing/2014/main" id="{41A3A080-2FDC-4C06-8619-BF6A0EC15D9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5. Permisos por rol y ACL</a:t>
            </a:r>
          </a:p>
        </p:txBody>
      </p:sp>
      <p:sp>
        <p:nvSpPr>
          <p:cNvPr id="2" name="Mecánica y aviónica: 2770 + ACL     Compras: 2770">
            <a:extLst>
              <a:ext uri="{FF2B5EF4-FFF2-40B4-BE49-F238E27FC236}">
                <a16:creationId xmlns:a16="http://schemas.microsoft.com/office/drawing/2014/main" id="{00182E70-2655-4E68-BFD0-B07C05301A40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Mecánica y aviónica: 2770 + ACL     Compras: 2770</a:t>
            </a:r>
          </a:p>
        </p:txBody>
      </p:sp>
      <p:sp>
        <p:nvSpPr>
          <p:cNvPr id="3" name="Las ACL permiten lectura entre A y B sin conceder escritura.&#10;SGID conserva el grupo. La ACL predeterminada se aplica a nuevos elementos.">
            <a:extLst>
              <a:ext uri="{FF2B5EF4-FFF2-40B4-BE49-F238E27FC236}">
                <a16:creationId xmlns:a16="http://schemas.microsoft.com/office/drawing/2014/main" id="{6858CE21-3713-4E76-8CFB-97883A46684D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Las ACL permiten lectura entre A y B sin conceder escritura.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SGID conserva el grupo. La ACL predeterminada se aplica a nuevos elementos.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C885FB-EB7B-0406-46EE-A4EC80405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0" b="11398"/>
          <a:stretch>
            <a:fillRect/>
          </a:stretch>
        </p:blipFill>
        <p:spPr>
          <a:xfrm>
            <a:off x="3266535" y="2613511"/>
            <a:ext cx="5658930" cy="41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9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C7284-AF29-4F38-7EFF-FD9355628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33"/>
          <a:stretch>
            <a:fillRect/>
          </a:stretch>
        </p:blipFill>
        <p:spPr>
          <a:xfrm>
            <a:off x="609600" y="1276709"/>
            <a:ext cx="10972799" cy="430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4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Recursos comunes y protegidos">
            <a:extLst>
              <a:ext uri="{FF2B5EF4-FFF2-40B4-BE49-F238E27FC236}">
                <a16:creationId xmlns:a16="http://schemas.microsoft.com/office/drawing/2014/main" id="{C3A056BA-3C4F-4B7A-81AC-D6322E378B9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5. Recursos comunes y protegidos</a:t>
            </a:r>
          </a:p>
        </p:txBody>
      </p:sp>
      <p:sp>
        <p:nvSpPr>
          <p:cNvPr id="2" name="Común: proyecto     Facturas: lectura para C     Confidencial: root">
            <a:extLst>
              <a:ext uri="{FF2B5EF4-FFF2-40B4-BE49-F238E27FC236}">
                <a16:creationId xmlns:a16="http://schemas.microsoft.com/office/drawing/2014/main" id="{15BA43DC-727A-4456-BCA9-8DE82480025D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Común: proyecto     Facturas: lectura para C     Confidencial: root</a:t>
            </a:r>
          </a:p>
        </p:txBody>
      </p:sp>
      <p:sp>
        <p:nvSpPr>
          <p:cNvPr id="3" name="C atraviesa contabilidad con x y consulta facturas con r-x.&#10;Confidencial usa 700 y permite la gestión administrativa con sudo.">
            <a:extLst>
              <a:ext uri="{FF2B5EF4-FFF2-40B4-BE49-F238E27FC236}">
                <a16:creationId xmlns:a16="http://schemas.microsoft.com/office/drawing/2014/main" id="{64F88C40-47DC-4A60-B011-A0C508F8E689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 atraviesa contabilidad con x y consulta facturas con r-x.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Confidencial usa 700 y permite la gestión administrativa con sudo.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277163-4913-F5C5-675E-437439CE2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3" b="44528"/>
          <a:stretch>
            <a:fillRect/>
          </a:stretch>
        </p:blipFill>
        <p:spPr>
          <a:xfrm>
            <a:off x="1669211" y="2876550"/>
            <a:ext cx="8853577" cy="380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8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86572-140A-0942-E8D3-6E1813007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48" b="46667"/>
          <a:stretch>
            <a:fillRect/>
          </a:stretch>
        </p:blipFill>
        <p:spPr>
          <a:xfrm>
            <a:off x="1500996" y="1600200"/>
            <a:ext cx="919000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86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6. Validación individual · usuario_a">
            <a:extLst>
              <a:ext uri="{FF2B5EF4-FFF2-40B4-BE49-F238E27FC236}">
                <a16:creationId xmlns:a16="http://schemas.microsoft.com/office/drawing/2014/main" id="{43016118-BEF8-4C63-81DC-1DFD9D61CD84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6. Validación individual · usuario_a</a:t>
            </a:r>
          </a:p>
        </p:txBody>
      </p:sp>
      <p:sp>
        <p:nvSpPr>
          <p:cNvPr id="2" name="Escritura propia, lectura ajena y denegaciones">
            <a:extLst>
              <a:ext uri="{FF2B5EF4-FFF2-40B4-BE49-F238E27FC236}">
                <a16:creationId xmlns:a16="http://schemas.microsoft.com/office/drawing/2014/main" id="{4AD4D76F-8E45-4689-BD4F-32E879A4DCE8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Escritura propia, lectura ajena y denegaciones</a:t>
            </a:r>
          </a:p>
        </p:txBody>
      </p:sp>
      <p:sp>
        <p:nvSpPr>
          <p:cNvPr id="3" name="A escribe en mecánica y lee la telemetría de aviónica.&#10;El sistema rechaza escribir en aviónica y listar confidencial.&#10;getfacl confirma la ACL de mecánica.">
            <a:extLst>
              <a:ext uri="{FF2B5EF4-FFF2-40B4-BE49-F238E27FC236}">
                <a16:creationId xmlns:a16="http://schemas.microsoft.com/office/drawing/2014/main" id="{4649CEFC-67FB-427B-9DAD-F851D294973B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 escribe en mecánica y lee la telemetría de aviónica.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El sistema rechaza escribir en aviónica y listar confidencial.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getfacl confirma la ACL de mecánica.</a:t>
            </a:r>
          </a:p>
        </p:txBody>
      </p:sp>
      <p:sp>
        <p:nvSpPr>
          <p:cNvPr id="7" name="Apoyo: Propiedad">
            <a:extLst>
              <a:ext uri="{FF2B5EF4-FFF2-40B4-BE49-F238E27FC236}">
                <a16:creationId xmlns:a16="http://schemas.microsoft.com/office/drawing/2014/main" id="{A4B075C3-46C8-4FCE-8234-5C60EBA70D00}"/>
              </a:ext>
            </a:extLst>
          </p:cNvPr>
          <p:cNvSpPr>
            <a:spLocks noGrp="1"/>
          </p:cNvSpPr>
          <p:nvPr/>
        </p:nvSpPr>
        <p:spPr>
          <a:xfrm>
            <a:off x="619125" y="32575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Propiedad</a:t>
            </a:r>
          </a:p>
        </p:txBody>
      </p:sp>
      <p:sp>
        <p:nvSpPr>
          <p:cNvPr id="8" name="Apoyo: usuario_a, grupo mecanica">
            <a:extLst>
              <a:ext uri="{FF2B5EF4-FFF2-40B4-BE49-F238E27FC236}">
                <a16:creationId xmlns:a16="http://schemas.microsoft.com/office/drawing/2014/main" id="{87F3AA72-12FB-4EA3-BC05-FA8C76BCD05D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usuario_a, grupo mecanica</a:t>
            </a:r>
          </a:p>
        </p:txBody>
      </p:sp>
      <p:sp>
        <p:nvSpPr>
          <p:cNvPr id="9" name="Apoyo: Lectura para B">
            <a:extLst>
              <a:ext uri="{FF2B5EF4-FFF2-40B4-BE49-F238E27FC236}">
                <a16:creationId xmlns:a16="http://schemas.microsoft.com/office/drawing/2014/main" id="{7E42A740-21DD-4D23-A22D-1160082FE3F8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Lectura para B</a:t>
            </a:r>
          </a:p>
        </p:txBody>
      </p:sp>
      <p:sp>
        <p:nvSpPr>
          <p:cNvPr id="10" name="Apoyo: ACL usuario_b:r-x en mecánica">
            <a:extLst>
              <a:ext uri="{FF2B5EF4-FFF2-40B4-BE49-F238E27FC236}">
                <a16:creationId xmlns:a16="http://schemas.microsoft.com/office/drawing/2014/main" id="{3332B28C-3EA3-4D84-B4F8-5CF669788C60}"/>
              </a:ext>
            </a:extLst>
          </p:cNvPr>
          <p:cNvSpPr>
            <a:spLocks noGrp="1"/>
          </p:cNvSpPr>
          <p:nvPr/>
        </p:nvSpPr>
        <p:spPr>
          <a:xfrm>
            <a:off x="3810000" y="40481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ACL usuario_b:r-x en mecánica</a:t>
            </a:r>
          </a:p>
        </p:txBody>
      </p:sp>
      <p:sp>
        <p:nvSpPr>
          <p:cNvPr id="11" name="Apoyo: Máscara ACL">
            <a:extLst>
              <a:ext uri="{FF2B5EF4-FFF2-40B4-BE49-F238E27FC236}">
                <a16:creationId xmlns:a16="http://schemas.microsoft.com/office/drawing/2014/main" id="{1DE8AB53-8F4B-4502-A6DF-DBB92057C1EC}"/>
              </a:ext>
            </a:extLst>
          </p:cNvPr>
          <p:cNvSpPr>
            <a:spLocks noGrp="1"/>
          </p:cNvSpPr>
          <p:nvPr/>
        </p:nvSpPr>
        <p:spPr>
          <a:xfrm>
            <a:off x="619125" y="48387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Máscara ACL</a:t>
            </a:r>
          </a:p>
        </p:txBody>
      </p:sp>
      <p:sp>
        <p:nvSpPr>
          <p:cNvPr id="12" name="Apoyo: rwx, sin ampliar los permisos de la entrada de B">
            <a:extLst>
              <a:ext uri="{FF2B5EF4-FFF2-40B4-BE49-F238E27FC236}">
                <a16:creationId xmlns:a16="http://schemas.microsoft.com/office/drawing/2014/main" id="{FB7646DD-928D-4679-A330-813DF1C232F5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rwx, sin ampliar los permisos de la entrada de B</a:t>
            </a:r>
          </a:p>
        </p:txBody>
      </p:sp>
      <p:sp>
        <p:nvSpPr>
          <p:cNvPr id="13" name="Apoyo: Herencia">
            <a:extLst>
              <a:ext uri="{FF2B5EF4-FFF2-40B4-BE49-F238E27FC236}">
                <a16:creationId xmlns:a16="http://schemas.microsoft.com/office/drawing/2014/main" id="{EA711AFE-F7B4-40FA-BDC8-C935D465D705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Herencia</a:t>
            </a:r>
          </a:p>
        </p:txBody>
      </p:sp>
      <p:sp>
        <p:nvSpPr>
          <p:cNvPr id="14" name="Apoyo: ACL predeterminada en el directorio de mecánica">
            <a:extLst>
              <a:ext uri="{FF2B5EF4-FFF2-40B4-BE49-F238E27FC236}">
                <a16:creationId xmlns:a16="http://schemas.microsoft.com/office/drawing/2014/main" id="{7AF14E92-1FB4-4D17-84F9-85B87557A2BD}"/>
              </a:ext>
            </a:extLst>
          </p:cNvPr>
          <p:cNvSpPr>
            <a:spLocks noGrp="1"/>
          </p:cNvSpPr>
          <p:nvPr/>
        </p:nvSpPr>
        <p:spPr>
          <a:xfrm>
            <a:off x="3810000" y="56292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ACL predeterminada en el directorio de mecánica</a:t>
            </a:r>
          </a:p>
        </p:txBody>
      </p:sp>
    </p:spTree>
    <p:extLst>
      <p:ext uri="{BB962C8B-B14F-4D97-AF65-F5344CB8AC3E}">
        <p14:creationId xmlns:p14="http://schemas.microsoft.com/office/powerpoint/2010/main" val="42374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169C1-537E-6FEB-5EE6-B6B39AAF9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49" b="23271"/>
          <a:stretch>
            <a:fillRect/>
          </a:stretch>
        </p:blipFill>
        <p:spPr>
          <a:xfrm>
            <a:off x="996351" y="797943"/>
            <a:ext cx="10199298" cy="52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0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6. Validación individual · usuario_b">
            <a:extLst>
              <a:ext uri="{FF2B5EF4-FFF2-40B4-BE49-F238E27FC236}">
                <a16:creationId xmlns:a16="http://schemas.microsoft.com/office/drawing/2014/main" id="{FFCF9EB0-8EBC-4C0C-AC60-BC819AA78E83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6. Validación individual · usuario_b</a:t>
            </a:r>
          </a:p>
        </p:txBody>
      </p:sp>
      <p:sp>
        <p:nvSpPr>
          <p:cNvPr id="2" name="Escritura propia, lectura ajena y denegaciones">
            <a:extLst>
              <a:ext uri="{FF2B5EF4-FFF2-40B4-BE49-F238E27FC236}">
                <a16:creationId xmlns:a16="http://schemas.microsoft.com/office/drawing/2014/main" id="{E1AA381E-0C24-4F46-A7E7-30FDCE51F06C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Escritura propia, lectura ajena y denegaciones</a:t>
            </a:r>
          </a:p>
        </p:txBody>
      </p:sp>
      <p:sp>
        <p:nvSpPr>
          <p:cNvPr id="3" name="B escribe en aviónica y software y lee el informe de mecánica.&#10;El sistema rechaza escribir en mecánica y listar contabilidad.&#10;getfacl confirma la ACL de aviónica.">
            <a:extLst>
              <a:ext uri="{FF2B5EF4-FFF2-40B4-BE49-F238E27FC236}">
                <a16:creationId xmlns:a16="http://schemas.microsoft.com/office/drawing/2014/main" id="{864CBBCA-512E-43EB-B961-236D88E8FEC7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B escribe en aviónica y software y lee el informe de mecánica.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El sistema rechaza escribir en mecánica y listar contabilidad.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getfacl confirma la ACL de aviónica.</a:t>
            </a:r>
          </a:p>
        </p:txBody>
      </p:sp>
      <p:sp>
        <p:nvSpPr>
          <p:cNvPr id="7" name="Apoyo: Pertenencias">
            <a:extLst>
              <a:ext uri="{FF2B5EF4-FFF2-40B4-BE49-F238E27FC236}">
                <a16:creationId xmlns:a16="http://schemas.microsoft.com/office/drawing/2014/main" id="{5EBCE35B-D0B9-46A2-8D70-6502AC2D6676}"/>
              </a:ext>
            </a:extLst>
          </p:cNvPr>
          <p:cNvSpPr>
            <a:spLocks noGrp="1"/>
          </p:cNvSpPr>
          <p:nvPr/>
        </p:nvSpPr>
        <p:spPr>
          <a:xfrm>
            <a:off x="619125" y="32575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Pertenencias</a:t>
            </a:r>
          </a:p>
        </p:txBody>
      </p:sp>
      <p:sp>
        <p:nvSpPr>
          <p:cNvPr id="8" name="Apoyo: avionica, software y proyecto">
            <a:extLst>
              <a:ext uri="{FF2B5EF4-FFF2-40B4-BE49-F238E27FC236}">
                <a16:creationId xmlns:a16="http://schemas.microsoft.com/office/drawing/2014/main" id="{BDA5F294-8C4D-4233-8664-744A87E8744E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avionica, software y proyecto</a:t>
            </a:r>
          </a:p>
        </p:txBody>
      </p:sp>
      <p:sp>
        <p:nvSpPr>
          <p:cNvPr id="9" name="Apoyo: Lectura para A">
            <a:extLst>
              <a:ext uri="{FF2B5EF4-FFF2-40B4-BE49-F238E27FC236}">
                <a16:creationId xmlns:a16="http://schemas.microsoft.com/office/drawing/2014/main" id="{20A52D37-16AC-4E0A-8F9B-FE15E263F062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Lectura para A</a:t>
            </a:r>
          </a:p>
        </p:txBody>
      </p:sp>
      <p:sp>
        <p:nvSpPr>
          <p:cNvPr id="10" name="Apoyo: ACL usuario_a:r-x en aviónica">
            <a:extLst>
              <a:ext uri="{FF2B5EF4-FFF2-40B4-BE49-F238E27FC236}">
                <a16:creationId xmlns:a16="http://schemas.microsoft.com/office/drawing/2014/main" id="{119507DC-D520-4C9A-A2B6-223C81176CAA}"/>
              </a:ext>
            </a:extLst>
          </p:cNvPr>
          <p:cNvSpPr>
            <a:spLocks noGrp="1"/>
          </p:cNvSpPr>
          <p:nvPr/>
        </p:nvSpPr>
        <p:spPr>
          <a:xfrm>
            <a:off x="3810000" y="40481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ACL usuario_a:r-x en aviónica</a:t>
            </a:r>
          </a:p>
        </p:txBody>
      </p:sp>
      <p:sp>
        <p:nvSpPr>
          <p:cNvPr id="11" name="Apoyo: Máscara ACL">
            <a:extLst>
              <a:ext uri="{FF2B5EF4-FFF2-40B4-BE49-F238E27FC236}">
                <a16:creationId xmlns:a16="http://schemas.microsoft.com/office/drawing/2014/main" id="{C7B44A9C-4DF3-46C9-87C4-B0179767D353}"/>
              </a:ext>
            </a:extLst>
          </p:cNvPr>
          <p:cNvSpPr>
            <a:spLocks noGrp="1"/>
          </p:cNvSpPr>
          <p:nvPr/>
        </p:nvSpPr>
        <p:spPr>
          <a:xfrm>
            <a:off x="619125" y="48387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Máscara ACL</a:t>
            </a:r>
          </a:p>
        </p:txBody>
      </p:sp>
      <p:sp>
        <p:nvSpPr>
          <p:cNvPr id="12" name="Apoyo: rwx, como límite de las entradas ACL">
            <a:extLst>
              <a:ext uri="{FF2B5EF4-FFF2-40B4-BE49-F238E27FC236}">
                <a16:creationId xmlns:a16="http://schemas.microsoft.com/office/drawing/2014/main" id="{787D3397-66D6-40BD-ABD2-1DCAC6308BA5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rwx, como límite de las entradas ACL</a:t>
            </a:r>
          </a:p>
        </p:txBody>
      </p:sp>
      <p:sp>
        <p:nvSpPr>
          <p:cNvPr id="13" name="Apoyo: Herencia">
            <a:extLst>
              <a:ext uri="{FF2B5EF4-FFF2-40B4-BE49-F238E27FC236}">
                <a16:creationId xmlns:a16="http://schemas.microsoft.com/office/drawing/2014/main" id="{CB68DE4D-4FB9-4303-9ECB-4049D02FC069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Herencia</a:t>
            </a:r>
          </a:p>
        </p:txBody>
      </p:sp>
      <p:sp>
        <p:nvSpPr>
          <p:cNvPr id="14" name="Apoyo: ACL predeterminada en el directorio de aviónica">
            <a:extLst>
              <a:ext uri="{FF2B5EF4-FFF2-40B4-BE49-F238E27FC236}">
                <a16:creationId xmlns:a16="http://schemas.microsoft.com/office/drawing/2014/main" id="{142D6E8C-E688-4B5B-A041-D2F18DA3D3B1}"/>
              </a:ext>
            </a:extLst>
          </p:cNvPr>
          <p:cNvSpPr>
            <a:spLocks noGrp="1"/>
          </p:cNvSpPr>
          <p:nvPr/>
        </p:nvSpPr>
        <p:spPr>
          <a:xfrm>
            <a:off x="3810000" y="56292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ACL predeterminada en el directorio de aviónica</a:t>
            </a:r>
          </a:p>
        </p:txBody>
      </p:sp>
    </p:spTree>
    <p:extLst>
      <p:ext uri="{BB962C8B-B14F-4D97-AF65-F5344CB8AC3E}">
        <p14:creationId xmlns:p14="http://schemas.microsoft.com/office/powerpoint/2010/main" val="1102774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DD6DE-EBA4-28FF-202C-276F61231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52" b="31698"/>
          <a:stretch>
            <a:fillRect/>
          </a:stretch>
        </p:blipFill>
        <p:spPr>
          <a:xfrm>
            <a:off x="1298275" y="1086928"/>
            <a:ext cx="9595449" cy="468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13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6. Validación individual · usuario_c">
            <a:extLst>
              <a:ext uri="{FF2B5EF4-FFF2-40B4-BE49-F238E27FC236}">
                <a16:creationId xmlns:a16="http://schemas.microsoft.com/office/drawing/2014/main" id="{7F51CED8-D53A-49A3-85F3-9580FF168A09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30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30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6. Validación individual · usuario_c</a:t>
            </a:r>
          </a:p>
        </p:txBody>
      </p:sp>
      <p:sp>
        <p:nvSpPr>
          <p:cNvPr id="2" name="Pedido: escritura     Factura: lectura     Restricciones">
            <a:extLst>
              <a:ext uri="{FF2B5EF4-FFF2-40B4-BE49-F238E27FC236}">
                <a16:creationId xmlns:a16="http://schemas.microsoft.com/office/drawing/2014/main" id="{E9A6B030-F21C-46E6-B81D-88499FD790A1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00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Pedido: escritura     Factura: lectura     Restricciones</a:t>
            </a:r>
          </a:p>
        </p:txBody>
      </p:sp>
      <p:sp>
        <p:nvSpPr>
          <p:cNvPr id="3" name="C modifica pedidos y lee facturas mediante ACL.&#10;El sistema rechaza modificar mecánica y listar confidencial.&#10;getfacl confirma r-x para C en facturas.">
            <a:extLst>
              <a:ext uri="{FF2B5EF4-FFF2-40B4-BE49-F238E27FC236}">
                <a16:creationId xmlns:a16="http://schemas.microsoft.com/office/drawing/2014/main" id="{322ADD81-048C-48C2-B38E-9BFBAE6650FB}"/>
              </a:ext>
            </a:extLst>
          </p:cNvPr>
          <p:cNvSpPr>
            <a:spLocks noGrp="1"/>
          </p:cNvSpPr>
          <p:nvPr/>
        </p:nvSpPr>
        <p:spPr>
          <a:xfrm>
            <a:off x="619125" y="1895475"/>
            <a:ext cx="10953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 modifica pedidos y lee facturas mediante ACL.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El sistema rechaza modificar mecánica y listar confidencial.</a:t>
            </a:r>
          </a:p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getfacl confirma r-x para C en facturas.</a:t>
            </a:r>
          </a:p>
        </p:txBody>
      </p:sp>
      <p:sp>
        <p:nvSpPr>
          <p:cNvPr id="7" name="Apoyo: Pertenencias">
            <a:extLst>
              <a:ext uri="{FF2B5EF4-FFF2-40B4-BE49-F238E27FC236}">
                <a16:creationId xmlns:a16="http://schemas.microsoft.com/office/drawing/2014/main" id="{AB1C8D1A-2546-4382-8D8F-125B3F6A2BB0}"/>
              </a:ext>
            </a:extLst>
          </p:cNvPr>
          <p:cNvSpPr>
            <a:spLocks noGrp="1"/>
          </p:cNvSpPr>
          <p:nvPr/>
        </p:nvSpPr>
        <p:spPr>
          <a:xfrm>
            <a:off x="619125" y="32575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Pertenencias</a:t>
            </a:r>
          </a:p>
        </p:txBody>
      </p:sp>
      <p:sp>
        <p:nvSpPr>
          <p:cNvPr id="8" name="Apoyo: compras y proyecto">
            <a:extLst>
              <a:ext uri="{FF2B5EF4-FFF2-40B4-BE49-F238E27FC236}">
                <a16:creationId xmlns:a16="http://schemas.microsoft.com/office/drawing/2014/main" id="{40E49A66-136F-4895-B4CA-7183FCDB8361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compras y proyecto</a:t>
            </a:r>
          </a:p>
        </p:txBody>
      </p:sp>
      <p:sp>
        <p:nvSpPr>
          <p:cNvPr id="9" name="Apoyo: Paso por el padre">
            <a:extLst>
              <a:ext uri="{FF2B5EF4-FFF2-40B4-BE49-F238E27FC236}">
                <a16:creationId xmlns:a16="http://schemas.microsoft.com/office/drawing/2014/main" id="{86468056-7AB2-4ACE-A342-39DADF7A5ED9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Paso por el padre</a:t>
            </a:r>
          </a:p>
        </p:txBody>
      </p:sp>
      <p:sp>
        <p:nvSpPr>
          <p:cNvPr id="10" name="Apoyo: contabilidad: --x, sin permiso de listado">
            <a:extLst>
              <a:ext uri="{FF2B5EF4-FFF2-40B4-BE49-F238E27FC236}">
                <a16:creationId xmlns:a16="http://schemas.microsoft.com/office/drawing/2014/main" id="{CF7928A6-77E5-495A-968B-71F65D4DB20C}"/>
              </a:ext>
            </a:extLst>
          </p:cNvPr>
          <p:cNvSpPr>
            <a:spLocks noGrp="1"/>
          </p:cNvSpPr>
          <p:nvPr/>
        </p:nvSpPr>
        <p:spPr>
          <a:xfrm>
            <a:off x="3810000" y="40481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contabilidad: --x, sin permiso de listado</a:t>
            </a:r>
          </a:p>
        </p:txBody>
      </p:sp>
      <p:sp>
        <p:nvSpPr>
          <p:cNvPr id="11" name="Apoyo: Lectura de facturas">
            <a:extLst>
              <a:ext uri="{FF2B5EF4-FFF2-40B4-BE49-F238E27FC236}">
                <a16:creationId xmlns:a16="http://schemas.microsoft.com/office/drawing/2014/main" id="{3BAF0890-FA84-4C23-8316-FA21AEFCD7CE}"/>
              </a:ext>
            </a:extLst>
          </p:cNvPr>
          <p:cNvSpPr>
            <a:spLocks noGrp="1"/>
          </p:cNvSpPr>
          <p:nvPr/>
        </p:nvSpPr>
        <p:spPr>
          <a:xfrm>
            <a:off x="619125" y="48387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Lectura de facturas</a:t>
            </a:r>
          </a:p>
        </p:txBody>
      </p:sp>
      <p:sp>
        <p:nvSpPr>
          <p:cNvPr id="12" name="Apoyo: usuario_c:r-x, sin escritura">
            <a:extLst>
              <a:ext uri="{FF2B5EF4-FFF2-40B4-BE49-F238E27FC236}">
                <a16:creationId xmlns:a16="http://schemas.microsoft.com/office/drawing/2014/main" id="{71F92B63-626F-481F-9F59-D960A31E6362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usuario_c:r-x, sin escritura</a:t>
            </a:r>
          </a:p>
        </p:txBody>
      </p:sp>
      <p:sp>
        <p:nvSpPr>
          <p:cNvPr id="13" name="Apoyo: Herencia">
            <a:extLst>
              <a:ext uri="{FF2B5EF4-FFF2-40B4-BE49-F238E27FC236}">
                <a16:creationId xmlns:a16="http://schemas.microsoft.com/office/drawing/2014/main" id="{82F250D2-5788-4E63-98DB-7FC65D987541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1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1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Herencia</a:t>
            </a:r>
          </a:p>
        </p:txBody>
      </p:sp>
      <p:sp>
        <p:nvSpPr>
          <p:cNvPr id="14" name="Apoyo: ACL predeterminada: usuario_c:r-x en facturas">
            <a:extLst>
              <a:ext uri="{FF2B5EF4-FFF2-40B4-BE49-F238E27FC236}">
                <a16:creationId xmlns:a16="http://schemas.microsoft.com/office/drawing/2014/main" id="{4F95ACE1-DDB8-43A1-B962-BBEA3402BAB7}"/>
              </a:ext>
            </a:extLst>
          </p:cNvPr>
          <p:cNvSpPr>
            <a:spLocks noGrp="1"/>
          </p:cNvSpPr>
          <p:nvPr/>
        </p:nvSpPr>
        <p:spPr>
          <a:xfrm>
            <a:off x="3810000" y="562927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defPPr>
            <a:lvl1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1pPr>
            <a:lvl2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2pPr>
            <a:lvl3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3pPr>
            <a:lvl4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4pPr>
            <a:lvl5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5pPr>
            <a:lvl6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6pPr>
            <a:lvl7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7pPr>
            <a:lvl8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8pPr>
            <a:lvl9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 sz="1875" b="0">
                <a:solidFill>
                  <a:srgbClr val="872046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872046"/>
                </a:solidFill>
                <a:latin typeface="Verdana"/>
                <a:ea typeface="Verdana"/>
                <a:cs typeface="Verdana"/>
              </a:rPr>
              <a:t>ACL predeterminada: usuario_c:r-x en facturas</a:t>
            </a:r>
          </a:p>
        </p:txBody>
      </p:sp>
    </p:spTree>
    <p:extLst>
      <p:ext uri="{BB962C8B-B14F-4D97-AF65-F5344CB8AC3E}">
        <p14:creationId xmlns:p14="http://schemas.microsoft.com/office/powerpoint/2010/main" val="591271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6C6A3-6276-A44E-5F58-E6DADBC0E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17" b="23774"/>
          <a:stretch>
            <a:fillRect/>
          </a:stretch>
        </p:blipFill>
        <p:spPr>
          <a:xfrm>
            <a:off x="1971136" y="815196"/>
            <a:ext cx="8249728" cy="522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68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Microsoft Office PowerPoint</Application>
  <DocSecurity>0</DocSecurity>
  <PresentationFormat>Widescreen</PresentationFormat>
  <Paragraphs>113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Verdana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Eduardo Manzano Alcaraz</cp:lastModifiedBy>
  <cp:revision>2</cp:revision>
  <dcterms:created xsi:type="dcterms:W3CDTF">2026-10-24T09:59:25Z</dcterms:created>
  <dcterms:modified xsi:type="dcterms:W3CDTF">2026-10-24T10:28:42Z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dbefee3-aa3e-4f91-bdbb-8ed89c5dc344_Enabled">
    <vt:lpwstr>true</vt:lpwstr>
  </property>
  <property fmtid="{D5CDD505-2E9C-101B-9397-08002B2CF9AE}" pid="3" name="MSIP_Label_5dbefee3-aa3e-4f91-bdbb-8ed89c5dc344_SetDate">
    <vt:lpwstr>2026-10-24T10:17:08Z</vt:lpwstr>
  </property>
  <property fmtid="{D5CDD505-2E9C-101B-9397-08002B2CF9AE}" pid="4" name="MSIP_Label_5dbefee3-aa3e-4f91-bdbb-8ed89c5dc344_Method">
    <vt:lpwstr>Privileged</vt:lpwstr>
  </property>
  <property fmtid="{D5CDD505-2E9C-101B-9397-08002B2CF9AE}" pid="5" name="MSIP_Label_5dbefee3-aa3e-4f91-bdbb-8ed89c5dc344_Name">
    <vt:lpwstr>1- Pública</vt:lpwstr>
  </property>
  <property fmtid="{D5CDD505-2E9C-101B-9397-08002B2CF9AE}" pid="6" name="MSIP_Label_5dbefee3-aa3e-4f91-bdbb-8ed89c5dc344_SiteId">
    <vt:lpwstr>f962b9f9-e2d9-49ee-b98c-14b402f6a5df</vt:lpwstr>
  </property>
  <property fmtid="{D5CDD505-2E9C-101B-9397-08002B2CF9AE}" pid="7" name="MSIP_Label_5dbefee3-aa3e-4f91-bdbb-8ed89c5dc344_ActionId">
    <vt:lpwstr>6e7a2348-e729-4f04-ac97-9a9e83675beb</vt:lpwstr>
  </property>
  <property fmtid="{D5CDD505-2E9C-101B-9397-08002B2CF9AE}" pid="8" name="MSIP_Label_5dbefee3-aa3e-4f91-bdbb-8ed89c5dc344_ContentBits">
    <vt:lpwstr>0</vt:lpwstr>
  </property>
  <property fmtid="{D5CDD505-2E9C-101B-9397-08002B2CF9AE}" pid="9" name="MSIP_Label_5dbefee3-aa3e-4f91-bdbb-8ed89c5dc344_Tag">
    <vt:lpwstr>10, 0, 1, 1</vt:lpwstr>
  </property>
</Properties>
</file>