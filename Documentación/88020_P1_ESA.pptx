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37" dt="2026-10-04T10:45:12.882"/>
    <p1510:client id="{2C791FFF-81CB-53EA-E5E0-BF58FFE2D1AD}" v="37" dt="2026-10-04T10:10:40.953"/>
    <p1510:client id="{31855C3C-9F05-C35A-3A97-0A2404AFA87C}" v="3" dt="2026-10-04T14:35:56.511"/>
    <p1510:client id="{53B12A19-97FB-4835-9F5D-DE678478F978}" v="8" dt="2026-10-03T10:28:23.004"/>
    <p1510:client id="{8BC8D930-7563-185D-255E-B063BD1AA0F4}" v="78" dt="2026-10-03T13:22:20.584"/>
    <p1510:client id="{90558F81-0665-EBF8-899B-CC287D48593E}" v="95" dt="2026-10-04T10:32:43.268"/>
    <p1510:client id="{BF1DE79D-56FC-EE6D-E547-3E7FA51C6121}" v="33" dt="2026-10-04T14:41:03.272"/>
    <p1510:client id="{DE4C295A-E899-6C16-2CF4-B728F2E0B0E2}" v="66" dt="2026-10-04T14:10:14.0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6703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Abrir la defensa diciendo qué se ha hecho: una instalación completa de Ubuntu Server en VirtualBox, con red, particionado, usuario y SSH comprobados. Duración sugerida: 30–40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Resumen de estructura. Remarcar que hay evidencias visuales y verificaciones. No entrar todavía en detalle; esta diapositiva es el mapa de la presentación.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Explicar que la VM está dimensionada para una práctica de servidor: suficiente para funcionar, sin robar recursos al PC físico. Defender el disco dinámico y el límite de 25 GB.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Esta es una pregunta típica de defensa: por qué poner óptico primero. Respuesta: porque el disco virtual aún no contiene un bootloader ni sistema operativo.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Explicar la elección de NAT frente a puente: para una práctica en aula es más estable y evita restricciones de la red. Añadir que para entrar por SSH desde el host se puede configurar redirección de puertos.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Destacar que el layout no es un detalle menor: un servidor se administra por consola y un símbolo mal puesto puede romper comandos o configuraciones.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Esta diapositiva es de las más importantes. Defender cada partición con una razón: EFI para arranque, raíz para sistema, swap como respaldo de memoria, y home separado para aislar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Responder si preguntan por root: Ubuntu suele mantener root deshabilitado para acceso directo; el usuario administrador pertenece a sudo y ejecuta comandos con sudo.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Aclarar que para comprobar SSH se usa systemctl status ssh. Si el profesor pregunta por acceso desde Windows, indicar que habría que mapear, por ejemplo, host 2222 a invitado 22.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Cierre breve: insistir en que cada configuración responde a un problema real de administración. Esta diapositiva también sirve para preparar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5925312"/>
            <a:ext cx="768096" cy="768096"/>
          </a:xfrm>
          <a:prstGeom prst="ellipse">
            <a:avLst/>
          </a:prstGeom>
          <a:solidFill>
            <a:srgbClr val="FFFFFF">
              <a:alpha val="0"/>
            </a:srgbClr>
          </a:solidFill>
          <a:ln w="13970">
            <a:solidFill>
              <a:srgbClr val="7A0F2E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" name="Image 0" descr="/mnt/data/ucjc_assets/ucjc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9320" y="347472"/>
            <a:ext cx="1469680" cy="6766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00584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7A0F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Práctica 1</a:t>
            </a:r>
            <a:endParaRPr lang="en-US" sz="2400"/>
          </a:p>
        </p:txBody>
      </p:sp>
      <p:sp>
        <p:nvSpPr>
          <p:cNvPr id="5" name="Text 2"/>
          <p:cNvSpPr/>
          <p:nvPr/>
        </p:nvSpPr>
        <p:spPr>
          <a:xfrm>
            <a:off x="777240" y="1508760"/>
            <a:ext cx="45262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>
                <a:solidFill>
                  <a:srgbClr val="7A0F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Ubuntu Server</a:t>
            </a:r>
            <a:endParaRPr lang="en-US" sz="3400"/>
          </a:p>
          <a:p>
            <a:pPr marL="0" indent="0">
              <a:buNone/>
            </a:pPr>
            <a:r>
              <a:rPr lang="en-US" sz="3400" b="1">
                <a:solidFill>
                  <a:srgbClr val="7A0F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 VirtualBox</a:t>
            </a:r>
            <a:endParaRPr lang="en-US" sz="3400"/>
          </a:p>
        </p:txBody>
      </p:sp>
      <p:sp>
        <p:nvSpPr>
          <p:cNvPr id="6" name="Shape 3"/>
          <p:cNvSpPr/>
          <p:nvPr/>
        </p:nvSpPr>
        <p:spPr>
          <a:xfrm>
            <a:off x="795528" y="2788920"/>
            <a:ext cx="2286000" cy="0"/>
          </a:xfrm>
          <a:prstGeom prst="line">
            <a:avLst/>
          </a:prstGeom>
          <a:noFill/>
          <a:ln w="25400">
            <a:solidFill>
              <a:srgbClr val="7A0F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792069" y="2875171"/>
            <a:ext cx="4226834" cy="1171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450">
                <a:solidFill>
                  <a:srgbClr val="4B4650"/>
                </a:solidFill>
              </a:rPr>
              <a:t>Alumnos: </a:t>
            </a:r>
            <a:endParaRPr lang="en-US" sz="1450">
              <a:solidFill>
                <a:srgbClr val="000000"/>
              </a:solidFill>
            </a:endParaRPr>
          </a:p>
          <a:p>
            <a:r>
              <a:rPr lang="en-US" sz="1450">
                <a:solidFill>
                  <a:srgbClr val="4B4650"/>
                </a:solidFill>
              </a:rPr>
              <a:t>Eduardo Manzano Alcaraz</a:t>
            </a:r>
            <a:r>
              <a:rPr lang="en-US" sz="1450">
                <a:solidFill>
                  <a:srgbClr val="000000"/>
                </a:solidFill>
              </a:rPr>
              <a:t> </a:t>
            </a:r>
            <a:endParaRPr lang="en-US" sz="1450"/>
          </a:p>
          <a:p>
            <a:r>
              <a:rPr lang="en-US" sz="1450">
                <a:solidFill>
                  <a:srgbClr val="4B4650"/>
                </a:solidFill>
              </a:rPr>
              <a:t>Sergio Herrero Gómez</a:t>
            </a:r>
          </a:p>
          <a:p>
            <a:r>
              <a:rPr lang="en-US" sz="1450">
                <a:solidFill>
                  <a:srgbClr val="4B4650"/>
                </a:solidFill>
              </a:rPr>
              <a:t>Alex Naihao Zheng</a:t>
            </a:r>
            <a:endParaRPr lang="en-US" sz="1450"/>
          </a:p>
        </p:txBody>
      </p:sp>
      <p:sp>
        <p:nvSpPr>
          <p:cNvPr id="11" name="Text 7"/>
          <p:cNvSpPr/>
          <p:nvPr/>
        </p:nvSpPr>
        <p:spPr>
          <a:xfrm>
            <a:off x="5760720" y="405079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>
                <a:solidFill>
                  <a:srgbClr val="7A0F2E"/>
                </a:solidFill>
              </a:rPr>
              <a:t>Objetivo: dejar una VM Ubuntu Server instalada, documentada y verificable.</a:t>
            </a:r>
            <a:endParaRPr lang="en-US" sz="1450"/>
          </a:p>
        </p:txBody>
      </p:sp>
      <p:sp>
        <p:nvSpPr>
          <p:cNvPr id="12" name="Text 8"/>
          <p:cNvSpPr/>
          <p:nvPr/>
        </p:nvSpPr>
        <p:spPr>
          <a:xfrm>
            <a:off x="3886200" y="651052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>
                <a:solidFill>
                  <a:srgbClr val="7A0F2E"/>
                </a:solidFill>
              </a:rPr>
              <a:t>Administración y servicios de sistemas operativos</a:t>
            </a:r>
            <a:endParaRPr lang="en-US" sz="8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5961888"/>
            <a:ext cx="713232" cy="713232"/>
          </a:xfrm>
          <a:prstGeom prst="ellipse">
            <a:avLst/>
          </a:prstGeom>
          <a:solidFill>
            <a:srgbClr val="FFFFFF">
              <a:alpha val="0"/>
            </a:srgbClr>
          </a:solidFill>
          <a:ln w="13970">
            <a:solidFill>
              <a:srgbClr val="7A0F2E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11283696" y="91440"/>
            <a:ext cx="713232" cy="713232"/>
          </a:xfrm>
          <a:prstGeom prst="ellipse">
            <a:avLst/>
          </a:prstGeom>
          <a:solidFill>
            <a:srgbClr val="FFFFFF">
              <a:alpha val="0"/>
            </a:srgbClr>
          </a:solidFill>
          <a:ln w="13970">
            <a:solidFill>
              <a:srgbClr val="7A0F2E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4" name="Image 0" descr="/mnt/data/ucjc_assets/ucjc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2823" y="219456"/>
            <a:ext cx="1231353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86200" y="651052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>
                <a:solidFill>
                  <a:srgbClr val="7A0F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Administración y servicios de sistemas operativos</a:t>
            </a:r>
            <a:endParaRPr lang="en-US" sz="850"/>
          </a:p>
        </p:txBody>
      </p:sp>
      <p:sp>
        <p:nvSpPr>
          <p:cNvPr id="6" name="Text 3"/>
          <p:cNvSpPr/>
          <p:nvPr/>
        </p:nvSpPr>
        <p:spPr>
          <a:xfrm>
            <a:off x="685800" y="31089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7A0F2E"/>
                </a:solidFill>
              </a:rPr>
              <a:t>Objetivo de la práctica</a:t>
            </a:r>
            <a:endParaRPr lang="en-US" sz="1050"/>
          </a:p>
        </p:txBody>
      </p:sp>
      <p:sp>
        <p:nvSpPr>
          <p:cNvPr id="7" name="Text 4"/>
          <p:cNvSpPr/>
          <p:nvPr/>
        </p:nvSpPr>
        <p:spPr>
          <a:xfrm>
            <a:off x="685800" y="6217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700" b="1" err="1">
                <a:solidFill>
                  <a:srgbClr val="7A0F2E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Qué</a:t>
            </a:r>
            <a:r>
              <a:rPr lang="en-US" sz="2700" b="1">
                <a:solidFill>
                  <a:srgbClr val="7A0F2E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 se ha </a:t>
            </a:r>
            <a:r>
              <a:rPr lang="en-US" sz="2700" b="1" err="1">
                <a:solidFill>
                  <a:srgbClr val="7A0F2E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construido</a:t>
            </a:r>
            <a:endParaRPr lang="en-US" sz="2700" b="1" err="1">
              <a:solidFill>
                <a:srgbClr val="7A0F2E"/>
              </a:solidFill>
              <a:latin typeface="Aptos Display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85800" y="1234440"/>
            <a:ext cx="1965960" cy="0"/>
          </a:xfrm>
          <a:prstGeom prst="line">
            <a:avLst/>
          </a:prstGeom>
          <a:noFill/>
          <a:ln w="25400">
            <a:solidFill>
              <a:srgbClr val="7A0F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693928" y="171196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2E1C28"/>
                </a:solidFill>
              </a:rPr>
              <a:t>Flujo end-to-end de una máquina virtual de servidor</a:t>
            </a:r>
            <a:endParaRPr lang="en-US" sz="1700"/>
          </a:p>
        </p:txBody>
      </p:sp>
      <p:sp>
        <p:nvSpPr>
          <p:cNvPr id="10" name="Shape 7"/>
          <p:cNvSpPr/>
          <p:nvPr/>
        </p:nvSpPr>
        <p:spPr>
          <a:xfrm>
            <a:off x="1298747" y="2832847"/>
            <a:ext cx="658368" cy="658368"/>
          </a:xfrm>
          <a:prstGeom prst="ellipse">
            <a:avLst/>
          </a:prstGeom>
          <a:solidFill>
            <a:srgbClr val="7A0F2E"/>
          </a:solidFill>
          <a:ln w="12700">
            <a:solidFill>
              <a:srgbClr val="7A0F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1298747" y="2942575"/>
            <a:ext cx="65836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600"/>
          </a:p>
        </p:txBody>
      </p:sp>
      <p:sp>
        <p:nvSpPr>
          <p:cNvPr id="12" name="Shape 9"/>
          <p:cNvSpPr/>
          <p:nvPr/>
        </p:nvSpPr>
        <p:spPr>
          <a:xfrm>
            <a:off x="2011979" y="3162031"/>
            <a:ext cx="1325880" cy="0"/>
          </a:xfrm>
          <a:prstGeom prst="line">
            <a:avLst/>
          </a:prstGeom>
          <a:noFill/>
          <a:ln w="17780">
            <a:solidFill>
              <a:srgbClr val="7A0F2E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1024427" y="3610087"/>
            <a:ext cx="12344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>
                <a:solidFill>
                  <a:srgbClr val="7A0F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Crear VM</a:t>
            </a:r>
            <a:endParaRPr lang="en-US" sz="1500"/>
          </a:p>
        </p:txBody>
      </p:sp>
      <p:sp>
        <p:nvSpPr>
          <p:cNvPr id="14" name="Text 11"/>
          <p:cNvSpPr/>
          <p:nvPr/>
        </p:nvSpPr>
        <p:spPr>
          <a:xfrm>
            <a:off x="795827" y="3930127"/>
            <a:ext cx="16916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>
                <a:solidFill>
                  <a:srgbClr val="4B46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VirtualBox + Ubuntu Server</a:t>
            </a:r>
            <a:endParaRPr lang="en-US" sz="1150"/>
          </a:p>
        </p:txBody>
      </p:sp>
      <p:sp>
        <p:nvSpPr>
          <p:cNvPr id="15" name="Shape 12"/>
          <p:cNvSpPr/>
          <p:nvPr/>
        </p:nvSpPr>
        <p:spPr>
          <a:xfrm>
            <a:off x="3475019" y="2832847"/>
            <a:ext cx="658368" cy="658368"/>
          </a:xfrm>
          <a:prstGeom prst="ellipse">
            <a:avLst/>
          </a:prstGeom>
          <a:solidFill>
            <a:srgbClr val="7A0F2E"/>
          </a:solidFill>
          <a:ln w="12700">
            <a:solidFill>
              <a:srgbClr val="7A0F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3475019" y="2942575"/>
            <a:ext cx="65836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600"/>
          </a:p>
        </p:txBody>
      </p:sp>
      <p:sp>
        <p:nvSpPr>
          <p:cNvPr id="17" name="Shape 14"/>
          <p:cNvSpPr/>
          <p:nvPr/>
        </p:nvSpPr>
        <p:spPr>
          <a:xfrm>
            <a:off x="4188251" y="3162031"/>
            <a:ext cx="1325880" cy="0"/>
          </a:xfrm>
          <a:prstGeom prst="line">
            <a:avLst/>
          </a:prstGeom>
          <a:noFill/>
          <a:ln w="17780">
            <a:solidFill>
              <a:srgbClr val="7A0F2E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/>
          <p:nvPr/>
        </p:nvSpPr>
        <p:spPr>
          <a:xfrm>
            <a:off x="3200699" y="3610087"/>
            <a:ext cx="12344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500" b="1">
                <a:solidFill>
                  <a:srgbClr val="7A0F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Configurar arranque</a:t>
            </a:r>
            <a:endParaRPr lang="en-US" sz="1500"/>
          </a:p>
        </p:txBody>
      </p:sp>
      <p:sp>
        <p:nvSpPr>
          <p:cNvPr id="19" name="Text 16"/>
          <p:cNvSpPr/>
          <p:nvPr/>
        </p:nvSpPr>
        <p:spPr>
          <a:xfrm>
            <a:off x="2972099" y="3930127"/>
            <a:ext cx="16916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>
                <a:solidFill>
                  <a:srgbClr val="4B46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 primero, disco después</a:t>
            </a:r>
            <a:endParaRPr lang="en-US" sz="1150"/>
          </a:p>
        </p:txBody>
      </p:sp>
      <p:sp>
        <p:nvSpPr>
          <p:cNvPr id="20" name="Shape 17"/>
          <p:cNvSpPr/>
          <p:nvPr/>
        </p:nvSpPr>
        <p:spPr>
          <a:xfrm>
            <a:off x="5651291" y="2832847"/>
            <a:ext cx="658368" cy="658368"/>
          </a:xfrm>
          <a:prstGeom prst="ellipse">
            <a:avLst/>
          </a:prstGeom>
          <a:solidFill>
            <a:srgbClr val="7A0F2E"/>
          </a:solidFill>
          <a:ln w="12700">
            <a:solidFill>
              <a:srgbClr val="7A0F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8"/>
          <p:cNvSpPr/>
          <p:nvPr/>
        </p:nvSpPr>
        <p:spPr>
          <a:xfrm>
            <a:off x="5651291" y="2942575"/>
            <a:ext cx="65836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600"/>
          </a:p>
        </p:txBody>
      </p:sp>
      <p:sp>
        <p:nvSpPr>
          <p:cNvPr id="22" name="Shape 19"/>
          <p:cNvSpPr/>
          <p:nvPr/>
        </p:nvSpPr>
        <p:spPr>
          <a:xfrm>
            <a:off x="6364523" y="3162031"/>
            <a:ext cx="1325880" cy="0"/>
          </a:xfrm>
          <a:prstGeom prst="line">
            <a:avLst/>
          </a:prstGeom>
          <a:noFill/>
          <a:ln w="17780">
            <a:solidFill>
              <a:srgbClr val="7A0F2E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0"/>
          <p:cNvSpPr/>
          <p:nvPr/>
        </p:nvSpPr>
        <p:spPr>
          <a:xfrm>
            <a:off x="5376971" y="3610087"/>
            <a:ext cx="12344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>
                <a:solidFill>
                  <a:srgbClr val="7A0F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 red</a:t>
            </a:r>
            <a:endParaRPr lang="en-US" sz="1500"/>
          </a:p>
        </p:txBody>
      </p:sp>
      <p:sp>
        <p:nvSpPr>
          <p:cNvPr id="24" name="Text 21"/>
          <p:cNvSpPr/>
          <p:nvPr/>
        </p:nvSpPr>
        <p:spPr>
          <a:xfrm>
            <a:off x="5148371" y="3930127"/>
            <a:ext cx="16916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>
                <a:solidFill>
                  <a:srgbClr val="4B46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 + DHCP automático</a:t>
            </a:r>
            <a:endParaRPr lang="en-US" sz="1150"/>
          </a:p>
        </p:txBody>
      </p:sp>
      <p:sp>
        <p:nvSpPr>
          <p:cNvPr id="25" name="Shape 22"/>
          <p:cNvSpPr/>
          <p:nvPr/>
        </p:nvSpPr>
        <p:spPr>
          <a:xfrm>
            <a:off x="7827563" y="2832847"/>
            <a:ext cx="658368" cy="658368"/>
          </a:xfrm>
          <a:prstGeom prst="ellipse">
            <a:avLst/>
          </a:prstGeom>
          <a:solidFill>
            <a:srgbClr val="7A0F2E"/>
          </a:solidFill>
          <a:ln w="12700">
            <a:solidFill>
              <a:srgbClr val="7A0F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3"/>
          <p:cNvSpPr/>
          <p:nvPr/>
        </p:nvSpPr>
        <p:spPr>
          <a:xfrm>
            <a:off x="7827563" y="2942575"/>
            <a:ext cx="65836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600"/>
          </a:p>
        </p:txBody>
      </p:sp>
      <p:sp>
        <p:nvSpPr>
          <p:cNvPr id="27" name="Shape 24"/>
          <p:cNvSpPr/>
          <p:nvPr/>
        </p:nvSpPr>
        <p:spPr>
          <a:xfrm>
            <a:off x="8540795" y="3162031"/>
            <a:ext cx="1325880" cy="0"/>
          </a:xfrm>
          <a:prstGeom prst="line">
            <a:avLst/>
          </a:prstGeom>
          <a:noFill/>
          <a:ln w="17780">
            <a:solidFill>
              <a:srgbClr val="7A0F2E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5"/>
          <p:cNvSpPr/>
          <p:nvPr/>
        </p:nvSpPr>
        <p:spPr>
          <a:xfrm>
            <a:off x="7553243" y="3610087"/>
            <a:ext cx="12344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500" b="1">
                <a:solidFill>
                  <a:srgbClr val="7A0F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Instalar sistema</a:t>
            </a:r>
            <a:endParaRPr lang="en-US" sz="1500"/>
          </a:p>
        </p:txBody>
      </p:sp>
      <p:sp>
        <p:nvSpPr>
          <p:cNvPr id="29" name="Text 26"/>
          <p:cNvSpPr/>
          <p:nvPr/>
        </p:nvSpPr>
        <p:spPr>
          <a:xfrm>
            <a:off x="7324643" y="3930127"/>
            <a:ext cx="16916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>
                <a:solidFill>
                  <a:srgbClr val="4B46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particiones, usuario y hostname</a:t>
            </a:r>
            <a:endParaRPr lang="en-US" sz="1150"/>
          </a:p>
        </p:txBody>
      </p:sp>
      <p:sp>
        <p:nvSpPr>
          <p:cNvPr id="30" name="Shape 27"/>
          <p:cNvSpPr/>
          <p:nvPr/>
        </p:nvSpPr>
        <p:spPr>
          <a:xfrm>
            <a:off x="10003835" y="2832847"/>
            <a:ext cx="658368" cy="658368"/>
          </a:xfrm>
          <a:prstGeom prst="ellipse">
            <a:avLst/>
          </a:prstGeom>
          <a:solidFill>
            <a:srgbClr val="7A0F2E"/>
          </a:solidFill>
          <a:ln w="12700">
            <a:solidFill>
              <a:srgbClr val="7A0F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8"/>
          <p:cNvSpPr/>
          <p:nvPr/>
        </p:nvSpPr>
        <p:spPr>
          <a:xfrm>
            <a:off x="10003835" y="2942575"/>
            <a:ext cx="65836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600"/>
          </a:p>
        </p:txBody>
      </p:sp>
      <p:sp>
        <p:nvSpPr>
          <p:cNvPr id="32" name="Text 29"/>
          <p:cNvSpPr/>
          <p:nvPr/>
        </p:nvSpPr>
        <p:spPr>
          <a:xfrm>
            <a:off x="9729515" y="3610087"/>
            <a:ext cx="12344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>
                <a:solidFill>
                  <a:srgbClr val="7A0F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</a:t>
            </a:r>
            <a:endParaRPr lang="en-US" sz="1500"/>
          </a:p>
        </p:txBody>
      </p:sp>
      <p:sp>
        <p:nvSpPr>
          <p:cNvPr id="33" name="Text 30"/>
          <p:cNvSpPr/>
          <p:nvPr/>
        </p:nvSpPr>
        <p:spPr>
          <a:xfrm>
            <a:off x="9500915" y="3930127"/>
            <a:ext cx="16916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>
                <a:solidFill>
                  <a:srgbClr val="4B46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OpenSSH y comandos de comprobación</a:t>
            </a:r>
            <a:endParaRPr lang="en-US" sz="11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5961888"/>
            <a:ext cx="713232" cy="713232"/>
          </a:xfrm>
          <a:prstGeom prst="ellipse">
            <a:avLst/>
          </a:prstGeom>
          <a:solidFill>
            <a:srgbClr val="FFFFFF">
              <a:alpha val="0"/>
            </a:srgbClr>
          </a:solidFill>
          <a:ln w="13970">
            <a:solidFill>
              <a:srgbClr val="7A0F2E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11283696" y="91440"/>
            <a:ext cx="713232" cy="713232"/>
          </a:xfrm>
          <a:prstGeom prst="ellipse">
            <a:avLst/>
          </a:prstGeom>
          <a:solidFill>
            <a:srgbClr val="FFFFFF">
              <a:alpha val="0"/>
            </a:srgbClr>
          </a:solidFill>
          <a:ln w="13970">
            <a:solidFill>
              <a:srgbClr val="7A0F2E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4" name="Image 0" descr="/mnt/data/ucjc_assets/ucjc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2823" y="219456"/>
            <a:ext cx="1231353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86200" y="651052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>
                <a:solidFill>
                  <a:srgbClr val="7A0F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Administración y servicios de sistemas operativos</a:t>
            </a:r>
            <a:endParaRPr lang="en-US" sz="850"/>
          </a:p>
        </p:txBody>
      </p:sp>
      <p:sp>
        <p:nvSpPr>
          <p:cNvPr id="6" name="Text 3"/>
          <p:cNvSpPr/>
          <p:nvPr/>
        </p:nvSpPr>
        <p:spPr>
          <a:xfrm>
            <a:off x="685800" y="31089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7A0F2E"/>
                </a:solidFill>
              </a:rPr>
              <a:t>Decisiones base</a:t>
            </a:r>
            <a:endParaRPr lang="en-US" sz="1050"/>
          </a:p>
        </p:txBody>
      </p:sp>
      <p:sp>
        <p:nvSpPr>
          <p:cNvPr id="7" name="Text 4"/>
          <p:cNvSpPr/>
          <p:nvPr/>
        </p:nvSpPr>
        <p:spPr>
          <a:xfrm>
            <a:off x="685800" y="6217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>
                <a:solidFill>
                  <a:srgbClr val="7A0F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Creación de la máquina virtual</a:t>
            </a:r>
            <a:endParaRPr lang="en-US" sz="2700"/>
          </a:p>
        </p:txBody>
      </p:sp>
      <p:sp>
        <p:nvSpPr>
          <p:cNvPr id="8" name="Shape 5"/>
          <p:cNvSpPr/>
          <p:nvPr/>
        </p:nvSpPr>
        <p:spPr>
          <a:xfrm>
            <a:off x="685800" y="1234440"/>
            <a:ext cx="1965960" cy="0"/>
          </a:xfrm>
          <a:prstGeom prst="line">
            <a:avLst/>
          </a:prstGeom>
          <a:noFill/>
          <a:ln w="25400">
            <a:solidFill>
              <a:srgbClr val="7A0F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6"/>
          <p:cNvSpPr/>
          <p:nvPr/>
        </p:nvSpPr>
        <p:spPr>
          <a:xfrm>
            <a:off x="777240" y="1508760"/>
            <a:ext cx="1508760" cy="932688"/>
          </a:xfrm>
          <a:prstGeom prst="rect">
            <a:avLst/>
          </a:prstGeom>
          <a:solidFill>
            <a:srgbClr val="F7EEF2"/>
          </a:solidFill>
          <a:ln w="11430">
            <a:solidFill>
              <a:srgbClr val="7A0F2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886968" y="1627632"/>
            <a:ext cx="128930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200" b="1">
                <a:solidFill>
                  <a:srgbClr val="7A0F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 GB</a:t>
            </a:r>
            <a:endParaRPr lang="en-US" sz="2200"/>
          </a:p>
        </p:txBody>
      </p:sp>
      <p:sp>
        <p:nvSpPr>
          <p:cNvPr id="11" name="Text 8"/>
          <p:cNvSpPr/>
          <p:nvPr/>
        </p:nvSpPr>
        <p:spPr>
          <a:xfrm>
            <a:off x="886968" y="2084832"/>
            <a:ext cx="128930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080">
                <a:solidFill>
                  <a:srgbClr val="2E1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 virtual dinámico</a:t>
            </a:r>
            <a:endParaRPr lang="en-US" sz="1080"/>
          </a:p>
        </p:txBody>
      </p:sp>
      <p:sp>
        <p:nvSpPr>
          <p:cNvPr id="12" name="Shape 9"/>
          <p:cNvSpPr/>
          <p:nvPr/>
        </p:nvSpPr>
        <p:spPr>
          <a:xfrm>
            <a:off x="2487168" y="1508760"/>
            <a:ext cx="1691640" cy="932688"/>
          </a:xfrm>
          <a:prstGeom prst="rect">
            <a:avLst/>
          </a:prstGeom>
          <a:solidFill>
            <a:srgbClr val="F7EEF2"/>
          </a:solidFill>
          <a:ln w="11430">
            <a:solidFill>
              <a:srgbClr val="7A0F2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2596896" y="1627632"/>
            <a:ext cx="147218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200" b="1">
                <a:solidFill>
                  <a:srgbClr val="7A0F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4–8 GB</a:t>
            </a:r>
            <a:endParaRPr lang="en-US" sz="2200"/>
          </a:p>
        </p:txBody>
      </p:sp>
      <p:sp>
        <p:nvSpPr>
          <p:cNvPr id="14" name="Text 11"/>
          <p:cNvSpPr/>
          <p:nvPr/>
        </p:nvSpPr>
        <p:spPr>
          <a:xfrm>
            <a:off x="2596896" y="2084832"/>
            <a:ext cx="147218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80">
                <a:solidFill>
                  <a:srgbClr val="2E1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Memoria recomendada</a:t>
            </a:r>
            <a:endParaRPr lang="en-US" sz="1080"/>
          </a:p>
        </p:txBody>
      </p:sp>
      <p:sp>
        <p:nvSpPr>
          <p:cNvPr id="15" name="Shape 12"/>
          <p:cNvSpPr/>
          <p:nvPr/>
        </p:nvSpPr>
        <p:spPr>
          <a:xfrm>
            <a:off x="4370832" y="1508760"/>
            <a:ext cx="1828800" cy="932688"/>
          </a:xfrm>
          <a:prstGeom prst="rect">
            <a:avLst/>
          </a:prstGeom>
          <a:solidFill>
            <a:srgbClr val="F7EEF2"/>
          </a:solidFill>
          <a:ln w="11430">
            <a:solidFill>
              <a:srgbClr val="7A0F2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4480560" y="1627632"/>
            <a:ext cx="160934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200" b="1">
                <a:solidFill>
                  <a:srgbClr val="7A0F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núcleos</a:t>
            </a:r>
            <a:endParaRPr lang="en-US" sz="2200"/>
          </a:p>
        </p:txBody>
      </p:sp>
      <p:sp>
        <p:nvSpPr>
          <p:cNvPr id="17" name="Text 14"/>
          <p:cNvSpPr/>
          <p:nvPr/>
        </p:nvSpPr>
        <p:spPr>
          <a:xfrm>
            <a:off x="4480560" y="2084832"/>
            <a:ext cx="16093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080">
                <a:solidFill>
                  <a:srgbClr val="2E1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Procesador para uso normal</a:t>
            </a:r>
            <a:endParaRPr lang="en-US" sz="1080"/>
          </a:p>
        </p:txBody>
      </p:sp>
      <p:sp>
        <p:nvSpPr>
          <p:cNvPr id="18" name="Shape 15"/>
          <p:cNvSpPr/>
          <p:nvPr/>
        </p:nvSpPr>
        <p:spPr>
          <a:xfrm>
            <a:off x="841248" y="2953512"/>
            <a:ext cx="256032" cy="0"/>
          </a:xfrm>
          <a:prstGeom prst="line">
            <a:avLst/>
          </a:prstGeom>
          <a:noFill/>
          <a:ln w="27940">
            <a:solidFill>
              <a:srgbClr val="7A0F2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6"/>
          <p:cNvSpPr/>
          <p:nvPr/>
        </p:nvSpPr>
        <p:spPr>
          <a:xfrm>
            <a:off x="1188720" y="2788920"/>
            <a:ext cx="5093208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50">
                <a:solidFill>
                  <a:srgbClr val="2E1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VirtualBox actúa como hipervisor de tipo 2 sobre el sistema anfitrión.</a:t>
            </a:r>
            <a:endParaRPr lang="en-US" sz="1450"/>
          </a:p>
        </p:txBody>
      </p:sp>
      <p:sp>
        <p:nvSpPr>
          <p:cNvPr id="20" name="Shape 17"/>
          <p:cNvSpPr/>
          <p:nvPr/>
        </p:nvSpPr>
        <p:spPr>
          <a:xfrm>
            <a:off x="841248" y="3456432"/>
            <a:ext cx="256032" cy="0"/>
          </a:xfrm>
          <a:prstGeom prst="line">
            <a:avLst/>
          </a:prstGeom>
          <a:noFill/>
          <a:ln w="27940">
            <a:solidFill>
              <a:srgbClr val="7A0F2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8"/>
          <p:cNvSpPr/>
          <p:nvPr/>
        </p:nvSpPr>
        <p:spPr>
          <a:xfrm>
            <a:off x="1188720" y="3291840"/>
            <a:ext cx="5093208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50">
                <a:solidFill>
                  <a:srgbClr val="2E1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disco dinámico evita reservar todo el espacio físico desde el inicio.</a:t>
            </a:r>
            <a:endParaRPr lang="en-US" sz="1450"/>
          </a:p>
        </p:txBody>
      </p:sp>
      <p:sp>
        <p:nvSpPr>
          <p:cNvPr id="22" name="Shape 19"/>
          <p:cNvSpPr/>
          <p:nvPr/>
        </p:nvSpPr>
        <p:spPr>
          <a:xfrm>
            <a:off x="841248" y="3959352"/>
            <a:ext cx="256032" cy="0"/>
          </a:xfrm>
          <a:prstGeom prst="line">
            <a:avLst/>
          </a:prstGeom>
          <a:noFill/>
          <a:ln w="27940">
            <a:solidFill>
              <a:srgbClr val="7A0F2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0"/>
          <p:cNvSpPr/>
          <p:nvPr/>
        </p:nvSpPr>
        <p:spPr>
          <a:xfrm>
            <a:off x="1188720" y="3794760"/>
            <a:ext cx="5093208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50">
                <a:solidFill>
                  <a:srgbClr val="2E1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conviene sobreasignar RAM o CPU: puede perjudicar al host y añadir latencia.</a:t>
            </a:r>
            <a:endParaRPr lang="en-US" sz="1450"/>
          </a:p>
        </p:txBody>
      </p:sp>
      <p:pic>
        <p:nvPicPr>
          <p:cNvPr id="25" name="Image 1" descr="/mnt/data/ucjc_assets/crop_disk_25gb.png"/>
          <p:cNvPicPr>
            <a:picLocks noChangeAspect="1"/>
          </p:cNvPicPr>
          <p:nvPr/>
        </p:nvPicPr>
        <p:blipFill>
          <a:blip r:embed="rId4"/>
          <a:srcRect l="-330" t="7725" r="-221" b="382"/>
          <a:stretch>
            <a:fillRect/>
          </a:stretch>
        </p:blipFill>
        <p:spPr>
          <a:xfrm>
            <a:off x="7003854" y="3538219"/>
            <a:ext cx="4275396" cy="2483681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 flipH="1">
            <a:off x="10991088" y="5626815"/>
            <a:ext cx="76819" cy="201582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7A0F2E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55CB0B2-0392-C986-4E51-8CA0DF0024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3927" y="4297389"/>
            <a:ext cx="3016520" cy="167285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0C764B3-2D62-8853-5B29-C684FE8E08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8177" y="1062281"/>
            <a:ext cx="4724562" cy="23182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5961888"/>
            <a:ext cx="713232" cy="713232"/>
          </a:xfrm>
          <a:prstGeom prst="ellipse">
            <a:avLst/>
          </a:prstGeom>
          <a:solidFill>
            <a:srgbClr val="FFFFFF">
              <a:alpha val="0"/>
            </a:srgbClr>
          </a:solidFill>
          <a:ln w="13970">
            <a:solidFill>
              <a:srgbClr val="7A0F2E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11283696" y="91440"/>
            <a:ext cx="713232" cy="713232"/>
          </a:xfrm>
          <a:prstGeom prst="ellipse">
            <a:avLst/>
          </a:prstGeom>
          <a:solidFill>
            <a:srgbClr val="FFFFFF">
              <a:alpha val="0"/>
            </a:srgbClr>
          </a:solidFill>
          <a:ln w="13970">
            <a:solidFill>
              <a:srgbClr val="7A0F2E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4" name="Image 0" descr="/mnt/data/ucjc_assets/ucjc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2823" y="219456"/>
            <a:ext cx="1231353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86200" y="651052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>
                <a:solidFill>
                  <a:srgbClr val="7A0F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Administración y servicios de sistemas operativos</a:t>
            </a:r>
            <a:endParaRPr lang="en-US" sz="850"/>
          </a:p>
        </p:txBody>
      </p:sp>
      <p:sp>
        <p:nvSpPr>
          <p:cNvPr id="6" name="Text 3"/>
          <p:cNvSpPr/>
          <p:nvPr/>
        </p:nvSpPr>
        <p:spPr>
          <a:xfrm>
            <a:off x="685800" y="31089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7A0F2E"/>
                </a:solidFill>
              </a:rPr>
              <a:t>Configuración previa</a:t>
            </a:r>
            <a:endParaRPr lang="en-US" sz="1050"/>
          </a:p>
        </p:txBody>
      </p:sp>
      <p:sp>
        <p:nvSpPr>
          <p:cNvPr id="7" name="Text 4"/>
          <p:cNvSpPr/>
          <p:nvPr/>
        </p:nvSpPr>
        <p:spPr>
          <a:xfrm>
            <a:off x="685800" y="6217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>
                <a:solidFill>
                  <a:srgbClr val="7A0F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Medio de instalación y orden de arranque</a:t>
            </a:r>
            <a:endParaRPr lang="en-US" sz="2700"/>
          </a:p>
        </p:txBody>
      </p:sp>
      <p:sp>
        <p:nvSpPr>
          <p:cNvPr id="8" name="Shape 5"/>
          <p:cNvSpPr/>
          <p:nvPr/>
        </p:nvSpPr>
        <p:spPr>
          <a:xfrm>
            <a:off x="685800" y="1234440"/>
            <a:ext cx="1965960" cy="0"/>
          </a:xfrm>
          <a:prstGeom prst="line">
            <a:avLst/>
          </a:prstGeom>
          <a:noFill/>
          <a:ln w="25400">
            <a:solidFill>
              <a:srgbClr val="7A0F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8"/>
          <p:cNvSpPr/>
          <p:nvPr/>
        </p:nvSpPr>
        <p:spPr>
          <a:xfrm>
            <a:off x="6537960" y="153619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>
                <a:solidFill>
                  <a:srgbClr val="7A0F2E"/>
                </a:solidFill>
              </a:rPr>
              <a:t>Por qué importa</a:t>
            </a:r>
            <a:endParaRPr lang="en-US" sz="2100"/>
          </a:p>
        </p:txBody>
      </p:sp>
      <p:sp>
        <p:nvSpPr>
          <p:cNvPr id="14" name="Shape 9"/>
          <p:cNvSpPr/>
          <p:nvPr/>
        </p:nvSpPr>
        <p:spPr>
          <a:xfrm>
            <a:off x="6565392" y="2267712"/>
            <a:ext cx="256032" cy="0"/>
          </a:xfrm>
          <a:prstGeom prst="line">
            <a:avLst/>
          </a:prstGeom>
          <a:noFill/>
          <a:ln w="27940">
            <a:solidFill>
              <a:srgbClr val="7A0F2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0"/>
          <p:cNvSpPr/>
          <p:nvPr/>
        </p:nvSpPr>
        <p:spPr>
          <a:xfrm>
            <a:off x="6912864" y="2103120"/>
            <a:ext cx="417880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00">
                <a:solidFill>
                  <a:srgbClr val="2E1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ISO se monta como unidad óptica virtual.</a:t>
            </a:r>
            <a:endParaRPr lang="en-US" sz="1500"/>
          </a:p>
        </p:txBody>
      </p:sp>
      <p:sp>
        <p:nvSpPr>
          <p:cNvPr id="16" name="Shape 11"/>
          <p:cNvSpPr/>
          <p:nvPr/>
        </p:nvSpPr>
        <p:spPr>
          <a:xfrm>
            <a:off x="6565392" y="2798064"/>
            <a:ext cx="256032" cy="0"/>
          </a:xfrm>
          <a:prstGeom prst="line">
            <a:avLst/>
          </a:prstGeom>
          <a:noFill/>
          <a:ln w="27940">
            <a:solidFill>
              <a:srgbClr val="7A0F2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2"/>
          <p:cNvSpPr/>
          <p:nvPr/>
        </p:nvSpPr>
        <p:spPr>
          <a:xfrm>
            <a:off x="6912864" y="2633472"/>
            <a:ext cx="417880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00">
                <a:solidFill>
                  <a:srgbClr val="2E1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unidad óptica debe arrancar antes que el disco duro.</a:t>
            </a:r>
            <a:endParaRPr lang="en-US" sz="1500"/>
          </a:p>
        </p:txBody>
      </p:sp>
      <p:sp>
        <p:nvSpPr>
          <p:cNvPr id="18" name="Shape 13"/>
          <p:cNvSpPr/>
          <p:nvPr/>
        </p:nvSpPr>
        <p:spPr>
          <a:xfrm>
            <a:off x="6565392" y="3328416"/>
            <a:ext cx="256032" cy="0"/>
          </a:xfrm>
          <a:prstGeom prst="line">
            <a:avLst/>
          </a:prstGeom>
          <a:noFill/>
          <a:ln w="27940">
            <a:solidFill>
              <a:srgbClr val="7A0F2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4"/>
          <p:cNvSpPr/>
          <p:nvPr/>
        </p:nvSpPr>
        <p:spPr>
          <a:xfrm>
            <a:off x="6912864" y="3163824"/>
            <a:ext cx="417880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00">
                <a:solidFill>
                  <a:srgbClr val="2E1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disco .vdi está vacío antes de instalar el sistema.</a:t>
            </a:r>
            <a:endParaRPr lang="en-US" sz="1500"/>
          </a:p>
        </p:txBody>
      </p:sp>
      <p:sp>
        <p:nvSpPr>
          <p:cNvPr id="20" name="Shape 15"/>
          <p:cNvSpPr/>
          <p:nvPr/>
        </p:nvSpPr>
        <p:spPr>
          <a:xfrm>
            <a:off x="6565392" y="3858768"/>
            <a:ext cx="256032" cy="0"/>
          </a:xfrm>
          <a:prstGeom prst="line">
            <a:avLst/>
          </a:prstGeom>
          <a:noFill/>
          <a:ln w="27940">
            <a:solidFill>
              <a:srgbClr val="7A0F2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6"/>
          <p:cNvSpPr/>
          <p:nvPr/>
        </p:nvSpPr>
        <p:spPr>
          <a:xfrm>
            <a:off x="6912864" y="3694176"/>
            <a:ext cx="417880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00">
                <a:solidFill>
                  <a:srgbClr val="2E1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retirar la ISO, el arranque vuelve al disco instalado.</a:t>
            </a:r>
            <a:endParaRPr lang="en-US" sz="1500"/>
          </a:p>
        </p:txBody>
      </p:sp>
      <p:sp>
        <p:nvSpPr>
          <p:cNvPr id="22" name="Shape 17"/>
          <p:cNvSpPr/>
          <p:nvPr/>
        </p:nvSpPr>
        <p:spPr>
          <a:xfrm>
            <a:off x="6556248" y="4892040"/>
            <a:ext cx="4343400" cy="658368"/>
          </a:xfrm>
          <a:prstGeom prst="rect">
            <a:avLst/>
          </a:prstGeom>
          <a:solidFill>
            <a:srgbClr val="F7EEF2"/>
          </a:solidFill>
          <a:ln w="12700">
            <a:solidFill>
              <a:srgbClr val="7A0F2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18"/>
          <p:cNvSpPr/>
          <p:nvPr/>
        </p:nvSpPr>
        <p:spPr>
          <a:xfrm>
            <a:off x="6748272" y="5029200"/>
            <a:ext cx="3950208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450" b="1">
                <a:solidFill>
                  <a:srgbClr val="2E1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clave: el orden de arranque evita fallos por intentar iniciar desde un disco todavía vacío.</a:t>
            </a:r>
            <a:endParaRPr lang="en-US" sz="145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4BC01E4-FCF5-E328-74BA-6CD4A62F0A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873" y="4217128"/>
            <a:ext cx="5229225" cy="229552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9843AD6-70C3-4392-C8AE-76872D7B66F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952" b="31009"/>
          <a:stretch>
            <a:fillRect/>
          </a:stretch>
        </p:blipFill>
        <p:spPr>
          <a:xfrm>
            <a:off x="428238" y="1287548"/>
            <a:ext cx="5358679" cy="28454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5961888"/>
            <a:ext cx="713232" cy="713232"/>
          </a:xfrm>
          <a:prstGeom prst="ellipse">
            <a:avLst/>
          </a:prstGeom>
          <a:solidFill>
            <a:srgbClr val="FFFFFF">
              <a:alpha val="0"/>
            </a:srgbClr>
          </a:solidFill>
          <a:ln w="13970">
            <a:solidFill>
              <a:srgbClr val="7A0F2E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11283696" y="91440"/>
            <a:ext cx="713232" cy="713232"/>
          </a:xfrm>
          <a:prstGeom prst="ellipse">
            <a:avLst/>
          </a:prstGeom>
          <a:solidFill>
            <a:srgbClr val="FFFFFF">
              <a:alpha val="0"/>
            </a:srgbClr>
          </a:solidFill>
          <a:ln w="13970">
            <a:solidFill>
              <a:srgbClr val="7A0F2E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4" name="Image 0" descr="/mnt/data/ucjc_assets/ucjc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2823" y="219456"/>
            <a:ext cx="1231353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86200" y="651052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>
                <a:solidFill>
                  <a:srgbClr val="7A0F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Administración y servicios de sistemas operativos</a:t>
            </a:r>
            <a:endParaRPr lang="en-US" sz="850"/>
          </a:p>
        </p:txBody>
      </p:sp>
      <p:sp>
        <p:nvSpPr>
          <p:cNvPr id="6" name="Text 3"/>
          <p:cNvSpPr/>
          <p:nvPr/>
        </p:nvSpPr>
        <p:spPr>
          <a:xfrm>
            <a:off x="685800" y="31089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7A0F2E"/>
                </a:solidFill>
              </a:rPr>
              <a:t>Red de la VM</a:t>
            </a:r>
            <a:endParaRPr lang="en-US" sz="1050"/>
          </a:p>
        </p:txBody>
      </p:sp>
      <p:sp>
        <p:nvSpPr>
          <p:cNvPr id="7" name="Text 4"/>
          <p:cNvSpPr/>
          <p:nvPr/>
        </p:nvSpPr>
        <p:spPr>
          <a:xfrm>
            <a:off x="685800" y="6217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>
                <a:solidFill>
                  <a:srgbClr val="7A0F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Configuración de red en modo NAT</a:t>
            </a:r>
            <a:endParaRPr lang="en-US" sz="2700"/>
          </a:p>
        </p:txBody>
      </p:sp>
      <p:sp>
        <p:nvSpPr>
          <p:cNvPr id="8" name="Shape 5"/>
          <p:cNvSpPr/>
          <p:nvPr/>
        </p:nvSpPr>
        <p:spPr>
          <a:xfrm>
            <a:off x="685800" y="1234440"/>
            <a:ext cx="1965960" cy="0"/>
          </a:xfrm>
          <a:prstGeom prst="line">
            <a:avLst/>
          </a:prstGeom>
          <a:noFill/>
          <a:ln w="25400">
            <a:solidFill>
              <a:srgbClr val="7A0F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6"/>
          <p:cNvSpPr/>
          <p:nvPr/>
        </p:nvSpPr>
        <p:spPr>
          <a:xfrm>
            <a:off x="804672" y="1554480"/>
            <a:ext cx="4800600" cy="960120"/>
          </a:xfrm>
          <a:prstGeom prst="rect">
            <a:avLst/>
          </a:prstGeom>
          <a:solidFill>
            <a:srgbClr val="F7EEF2"/>
          </a:solidFill>
          <a:ln w="12700">
            <a:solidFill>
              <a:srgbClr val="7A0F2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1005840" y="1783080"/>
            <a:ext cx="440740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50" b="1">
                <a:solidFill>
                  <a:srgbClr val="2E1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NAT: la VM comparte la conexión del equipo anfitrión usando una IP privada.</a:t>
            </a:r>
            <a:endParaRPr lang="en-US" sz="1550"/>
          </a:p>
        </p:txBody>
      </p:sp>
      <p:sp>
        <p:nvSpPr>
          <p:cNvPr id="11" name="Shape 8"/>
          <p:cNvSpPr/>
          <p:nvPr/>
        </p:nvSpPr>
        <p:spPr>
          <a:xfrm>
            <a:off x="868680" y="2999232"/>
            <a:ext cx="256032" cy="0"/>
          </a:xfrm>
          <a:prstGeom prst="line">
            <a:avLst/>
          </a:prstGeom>
          <a:noFill/>
          <a:ln w="27940">
            <a:solidFill>
              <a:srgbClr val="7A0F2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1216152" y="2834640"/>
            <a:ext cx="4773168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50">
                <a:solidFill>
                  <a:srgbClr val="2E1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Internet garantizado si el host tiene conexión.</a:t>
            </a:r>
            <a:endParaRPr lang="en-US" sz="1450"/>
          </a:p>
        </p:txBody>
      </p:sp>
      <p:sp>
        <p:nvSpPr>
          <p:cNvPr id="13" name="Shape 10"/>
          <p:cNvSpPr/>
          <p:nvPr/>
        </p:nvSpPr>
        <p:spPr>
          <a:xfrm>
            <a:off x="868680" y="3474720"/>
            <a:ext cx="256032" cy="0"/>
          </a:xfrm>
          <a:prstGeom prst="line">
            <a:avLst/>
          </a:prstGeom>
          <a:noFill/>
          <a:ln w="27940">
            <a:solidFill>
              <a:srgbClr val="7A0F2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1216152" y="3310128"/>
            <a:ext cx="4773168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50">
                <a:solidFill>
                  <a:srgbClr val="2E1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red del aula solo ve el equipo físico.</a:t>
            </a:r>
            <a:endParaRPr lang="en-US" sz="1450"/>
          </a:p>
        </p:txBody>
      </p:sp>
      <p:sp>
        <p:nvSpPr>
          <p:cNvPr id="15" name="Shape 12"/>
          <p:cNvSpPr/>
          <p:nvPr/>
        </p:nvSpPr>
        <p:spPr>
          <a:xfrm>
            <a:off x="868680" y="3950208"/>
            <a:ext cx="256032" cy="0"/>
          </a:xfrm>
          <a:prstGeom prst="line">
            <a:avLst/>
          </a:prstGeom>
          <a:noFill/>
          <a:ln w="27940">
            <a:solidFill>
              <a:srgbClr val="7A0F2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1216152" y="3785616"/>
            <a:ext cx="4773168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50">
                <a:solidFill>
                  <a:srgbClr val="2E1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 redirigir puertos para acceder por SSH.</a:t>
            </a:r>
            <a:endParaRPr lang="en-US" sz="1450"/>
          </a:p>
        </p:txBody>
      </p:sp>
      <p:sp>
        <p:nvSpPr>
          <p:cNvPr id="17" name="Shape 14"/>
          <p:cNvSpPr/>
          <p:nvPr/>
        </p:nvSpPr>
        <p:spPr>
          <a:xfrm>
            <a:off x="868680" y="4425696"/>
            <a:ext cx="256032" cy="0"/>
          </a:xfrm>
          <a:prstGeom prst="line">
            <a:avLst/>
          </a:prstGeom>
          <a:noFill/>
          <a:ln w="27940">
            <a:solidFill>
              <a:srgbClr val="7A0F2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/>
          <p:nvPr/>
        </p:nvSpPr>
        <p:spPr>
          <a:xfrm>
            <a:off x="1216152" y="4261104"/>
            <a:ext cx="4773168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50">
                <a:solidFill>
                  <a:srgbClr val="2E1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Limitación: las conexiones entrantes exigen port forwarding.</a:t>
            </a:r>
            <a:endParaRPr lang="en-US" sz="1450"/>
          </a:p>
        </p:txBody>
      </p:sp>
      <p:pic>
        <p:nvPicPr>
          <p:cNvPr id="20" name="Image 1" descr="/mnt/data/ucjc_assets/crop_nat_settings.png"/>
          <p:cNvPicPr>
            <a:picLocks noChangeAspect="1"/>
          </p:cNvPicPr>
          <p:nvPr/>
        </p:nvPicPr>
        <p:blipFill>
          <a:blip r:embed="rId4"/>
          <a:srcRect t="5632" b="5632"/>
          <a:stretch/>
        </p:blipFill>
        <p:spPr>
          <a:xfrm>
            <a:off x="6476033" y="1714379"/>
            <a:ext cx="4800600" cy="2606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5961888"/>
            <a:ext cx="713232" cy="713232"/>
          </a:xfrm>
          <a:prstGeom prst="ellipse">
            <a:avLst/>
          </a:prstGeom>
          <a:solidFill>
            <a:srgbClr val="FFFFFF">
              <a:alpha val="0"/>
            </a:srgbClr>
          </a:solidFill>
          <a:ln w="13970">
            <a:solidFill>
              <a:srgbClr val="7A0F2E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11283696" y="91440"/>
            <a:ext cx="713232" cy="713232"/>
          </a:xfrm>
          <a:prstGeom prst="ellipse">
            <a:avLst/>
          </a:prstGeom>
          <a:solidFill>
            <a:srgbClr val="FFFFFF">
              <a:alpha val="0"/>
            </a:srgbClr>
          </a:solidFill>
          <a:ln w="13970">
            <a:solidFill>
              <a:srgbClr val="7A0F2E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4" name="Image 0" descr="/mnt/data/ucjc_assets/ucjc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2823" y="219456"/>
            <a:ext cx="1231353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86200" y="651052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>
                <a:solidFill>
                  <a:srgbClr val="7A0F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Administración y servicios de sistemas operativos</a:t>
            </a:r>
            <a:endParaRPr lang="en-US" sz="850"/>
          </a:p>
        </p:txBody>
      </p:sp>
      <p:sp>
        <p:nvSpPr>
          <p:cNvPr id="6" name="Text 3"/>
          <p:cNvSpPr/>
          <p:nvPr/>
        </p:nvSpPr>
        <p:spPr>
          <a:xfrm>
            <a:off x="685800" y="31089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7A0F2E"/>
                </a:solidFill>
              </a:rPr>
              <a:t>Instalación</a:t>
            </a:r>
            <a:endParaRPr lang="en-US" sz="1050"/>
          </a:p>
        </p:txBody>
      </p:sp>
      <p:sp>
        <p:nvSpPr>
          <p:cNvPr id="7" name="Text 4"/>
          <p:cNvSpPr/>
          <p:nvPr/>
        </p:nvSpPr>
        <p:spPr>
          <a:xfrm>
            <a:off x="685800" y="6217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>
                <a:solidFill>
                  <a:srgbClr val="7A0F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Arranque del instalador de Ubuntu Server</a:t>
            </a:r>
            <a:endParaRPr lang="en-US" sz="2700"/>
          </a:p>
        </p:txBody>
      </p:sp>
      <p:sp>
        <p:nvSpPr>
          <p:cNvPr id="8" name="Shape 5"/>
          <p:cNvSpPr/>
          <p:nvPr/>
        </p:nvSpPr>
        <p:spPr>
          <a:xfrm>
            <a:off x="685800" y="1234440"/>
            <a:ext cx="1965960" cy="0"/>
          </a:xfrm>
          <a:prstGeom prst="line">
            <a:avLst/>
          </a:prstGeom>
          <a:noFill/>
          <a:ln w="25400">
            <a:solidFill>
              <a:srgbClr val="7A0F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8"/>
          <p:cNvSpPr/>
          <p:nvPr/>
        </p:nvSpPr>
        <p:spPr>
          <a:xfrm>
            <a:off x="6748272" y="15270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>
                <a:solidFill>
                  <a:srgbClr val="7A0F2E"/>
                </a:solidFill>
              </a:rPr>
              <a:t>Decisiones tomadas</a:t>
            </a:r>
            <a:endParaRPr lang="en-US" sz="2100"/>
          </a:p>
        </p:txBody>
      </p:sp>
      <p:sp>
        <p:nvSpPr>
          <p:cNvPr id="14" name="Shape 9"/>
          <p:cNvSpPr/>
          <p:nvPr/>
        </p:nvSpPr>
        <p:spPr>
          <a:xfrm>
            <a:off x="6766560" y="2176272"/>
            <a:ext cx="256032" cy="0"/>
          </a:xfrm>
          <a:prstGeom prst="line">
            <a:avLst/>
          </a:prstGeom>
          <a:noFill/>
          <a:ln w="27940">
            <a:solidFill>
              <a:srgbClr val="7A0F2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0"/>
          <p:cNvSpPr/>
          <p:nvPr/>
        </p:nvSpPr>
        <p:spPr>
          <a:xfrm>
            <a:off x="7114032" y="2011680"/>
            <a:ext cx="395020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50">
                <a:solidFill>
                  <a:srgbClr val="2E1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Idioma y layout del teclado configurados en español.</a:t>
            </a:r>
            <a:endParaRPr lang="en-US" sz="1450"/>
          </a:p>
        </p:txBody>
      </p:sp>
      <p:sp>
        <p:nvSpPr>
          <p:cNvPr id="16" name="Shape 11"/>
          <p:cNvSpPr/>
          <p:nvPr/>
        </p:nvSpPr>
        <p:spPr>
          <a:xfrm>
            <a:off x="6766560" y="2706624"/>
            <a:ext cx="256032" cy="0"/>
          </a:xfrm>
          <a:prstGeom prst="line">
            <a:avLst/>
          </a:prstGeom>
          <a:noFill/>
          <a:ln w="27940">
            <a:solidFill>
              <a:srgbClr val="7A0F2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2"/>
          <p:cNvSpPr/>
          <p:nvPr/>
        </p:nvSpPr>
        <p:spPr>
          <a:xfrm>
            <a:off x="7114032" y="2542032"/>
            <a:ext cx="395020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50">
                <a:solidFill>
                  <a:srgbClr val="2E1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CLI es crítico que símbolos como /, -, _, | y : coincidan.</a:t>
            </a:r>
            <a:endParaRPr lang="en-US" sz="1450"/>
          </a:p>
        </p:txBody>
      </p:sp>
      <p:sp>
        <p:nvSpPr>
          <p:cNvPr id="18" name="Shape 13"/>
          <p:cNvSpPr/>
          <p:nvPr/>
        </p:nvSpPr>
        <p:spPr>
          <a:xfrm>
            <a:off x="6766560" y="3236976"/>
            <a:ext cx="256032" cy="0"/>
          </a:xfrm>
          <a:prstGeom prst="line">
            <a:avLst/>
          </a:prstGeom>
          <a:noFill/>
          <a:ln w="27940">
            <a:solidFill>
              <a:srgbClr val="7A0F2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4"/>
          <p:cNvSpPr/>
          <p:nvPr/>
        </p:nvSpPr>
        <p:spPr>
          <a:xfrm>
            <a:off x="7114032" y="3072384"/>
            <a:ext cx="395020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50">
                <a:solidFill>
                  <a:srgbClr val="2E1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interfaz virtual enp0s3 se detecta automáticamente.</a:t>
            </a:r>
            <a:endParaRPr lang="en-US" sz="1450"/>
          </a:p>
        </p:txBody>
      </p:sp>
      <p:sp>
        <p:nvSpPr>
          <p:cNvPr id="20" name="Shape 15"/>
          <p:cNvSpPr/>
          <p:nvPr/>
        </p:nvSpPr>
        <p:spPr>
          <a:xfrm>
            <a:off x="6766560" y="3767328"/>
            <a:ext cx="256032" cy="0"/>
          </a:xfrm>
          <a:prstGeom prst="line">
            <a:avLst/>
          </a:prstGeom>
          <a:noFill/>
          <a:ln w="27940">
            <a:solidFill>
              <a:srgbClr val="7A0F2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6"/>
          <p:cNvSpPr/>
          <p:nvPr/>
        </p:nvSpPr>
        <p:spPr>
          <a:xfrm>
            <a:off x="7114032" y="3602736"/>
            <a:ext cx="395020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50">
                <a:solidFill>
                  <a:srgbClr val="2E1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DHCP asigna la IP privada 10.0.2.15 para continuar la instalación.</a:t>
            </a:r>
            <a:endParaRPr lang="en-US" sz="145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6FD0034-FEFA-F258-5284-A327B77E7C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917" y="4533514"/>
            <a:ext cx="8696325" cy="197167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D6EA74A-5182-9724-47AD-65CD3FDB25F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16" r="19046" b="26435"/>
          <a:stretch>
            <a:fillRect/>
          </a:stretch>
        </p:blipFill>
        <p:spPr>
          <a:xfrm>
            <a:off x="424635" y="1176768"/>
            <a:ext cx="6182418" cy="29579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5961888"/>
            <a:ext cx="713232" cy="713232"/>
          </a:xfrm>
          <a:prstGeom prst="ellipse">
            <a:avLst/>
          </a:prstGeom>
          <a:solidFill>
            <a:srgbClr val="FFFFFF">
              <a:alpha val="0"/>
            </a:srgbClr>
          </a:solidFill>
          <a:ln w="13970">
            <a:solidFill>
              <a:srgbClr val="7A0F2E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11283696" y="91440"/>
            <a:ext cx="713232" cy="713232"/>
          </a:xfrm>
          <a:prstGeom prst="ellipse">
            <a:avLst/>
          </a:prstGeom>
          <a:solidFill>
            <a:srgbClr val="FFFFFF">
              <a:alpha val="0"/>
            </a:srgbClr>
          </a:solidFill>
          <a:ln w="13970">
            <a:solidFill>
              <a:srgbClr val="7A0F2E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4" name="Image 0" descr="/mnt/data/ucjc_assets/ucjc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2823" y="219456"/>
            <a:ext cx="1231353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86200" y="651052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>
                <a:solidFill>
                  <a:srgbClr val="7A0F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Administración y servicios de sistemas operativos</a:t>
            </a:r>
            <a:endParaRPr lang="en-US" sz="850"/>
          </a:p>
        </p:txBody>
      </p:sp>
      <p:sp>
        <p:nvSpPr>
          <p:cNvPr id="6" name="Text 3"/>
          <p:cNvSpPr/>
          <p:nvPr/>
        </p:nvSpPr>
        <p:spPr>
          <a:xfrm>
            <a:off x="685800" y="31089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7A0F2E"/>
                </a:solidFill>
              </a:rPr>
              <a:t>Diseño del sistema</a:t>
            </a:r>
            <a:endParaRPr lang="en-US" sz="1050"/>
          </a:p>
        </p:txBody>
      </p:sp>
      <p:sp>
        <p:nvSpPr>
          <p:cNvPr id="7" name="Text 4"/>
          <p:cNvSpPr/>
          <p:nvPr/>
        </p:nvSpPr>
        <p:spPr>
          <a:xfrm>
            <a:off x="685800" y="6217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>
                <a:solidFill>
                  <a:srgbClr val="7A0F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Particionado del disco virtual</a:t>
            </a:r>
            <a:endParaRPr lang="en-US" sz="2700"/>
          </a:p>
        </p:txBody>
      </p:sp>
      <p:sp>
        <p:nvSpPr>
          <p:cNvPr id="8" name="Shape 5"/>
          <p:cNvSpPr/>
          <p:nvPr/>
        </p:nvSpPr>
        <p:spPr>
          <a:xfrm>
            <a:off x="685800" y="1234440"/>
            <a:ext cx="1965960" cy="0"/>
          </a:xfrm>
          <a:prstGeom prst="line">
            <a:avLst/>
          </a:prstGeom>
          <a:noFill/>
          <a:ln w="25400">
            <a:solidFill>
              <a:srgbClr val="7A0F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0" name="Image 1" descr="/mnt/data/ucjc_assets/crop_partition_table.png"/>
          <p:cNvPicPr>
            <a:picLocks noChangeAspect="1"/>
          </p:cNvPicPr>
          <p:nvPr/>
        </p:nvPicPr>
        <p:blipFill>
          <a:blip r:embed="rId4"/>
          <a:srcRect l="-50" t="3470" r="9651" b="-1709"/>
          <a:stretch>
            <a:fillRect/>
          </a:stretch>
        </p:blipFill>
        <p:spPr>
          <a:xfrm>
            <a:off x="424567" y="1512119"/>
            <a:ext cx="5692901" cy="127558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60120" y="295351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>
                <a:solidFill>
                  <a:srgbClr val="7A0F2E"/>
                </a:solidFill>
              </a:rPr>
              <a:t>Esquema usado en la práctica</a:t>
            </a:r>
            <a:endParaRPr lang="en-US" sz="1350"/>
          </a:p>
        </p:txBody>
      </p:sp>
      <p:sp>
        <p:nvSpPr>
          <p:cNvPr id="12" name="Shape 8"/>
          <p:cNvSpPr/>
          <p:nvPr/>
        </p:nvSpPr>
        <p:spPr>
          <a:xfrm>
            <a:off x="850392" y="3986784"/>
            <a:ext cx="256032" cy="0"/>
          </a:xfrm>
          <a:prstGeom prst="line">
            <a:avLst/>
          </a:prstGeom>
          <a:noFill/>
          <a:ln w="27940">
            <a:solidFill>
              <a:srgbClr val="7A0F2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9"/>
          <p:cNvSpPr/>
          <p:nvPr/>
        </p:nvSpPr>
        <p:spPr>
          <a:xfrm>
            <a:off x="1197864" y="3822192"/>
            <a:ext cx="4910328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50">
                <a:solidFill>
                  <a:srgbClr val="2E1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 tiene margen para actualizaciones y paquetes sin sobredimensionar.</a:t>
            </a:r>
            <a:endParaRPr lang="en-US" sz="1450"/>
          </a:p>
        </p:txBody>
      </p:sp>
      <p:sp>
        <p:nvSpPr>
          <p:cNvPr id="14" name="Shape 10"/>
          <p:cNvSpPr/>
          <p:nvPr/>
        </p:nvSpPr>
        <p:spPr>
          <a:xfrm>
            <a:off x="850392" y="4489704"/>
            <a:ext cx="256032" cy="0"/>
          </a:xfrm>
          <a:prstGeom prst="line">
            <a:avLst/>
          </a:prstGeom>
          <a:noFill/>
          <a:ln w="27940">
            <a:solidFill>
              <a:srgbClr val="7A0F2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1"/>
          <p:cNvSpPr/>
          <p:nvPr/>
        </p:nvSpPr>
        <p:spPr>
          <a:xfrm>
            <a:off x="1197864" y="4325112"/>
            <a:ext cx="4910328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50">
                <a:solidFill>
                  <a:srgbClr val="2E1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Separar /home facilita copias, cuotas y reinstalaciones.</a:t>
            </a:r>
            <a:endParaRPr lang="en-US" sz="1450"/>
          </a:p>
        </p:txBody>
      </p:sp>
      <p:sp>
        <p:nvSpPr>
          <p:cNvPr id="16" name="Shape 12"/>
          <p:cNvSpPr/>
          <p:nvPr/>
        </p:nvSpPr>
        <p:spPr>
          <a:xfrm>
            <a:off x="850392" y="4992624"/>
            <a:ext cx="256032" cy="0"/>
          </a:xfrm>
          <a:prstGeom prst="line">
            <a:avLst/>
          </a:prstGeom>
          <a:noFill/>
          <a:ln w="27940">
            <a:solidFill>
              <a:srgbClr val="7A0F2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3"/>
          <p:cNvSpPr/>
          <p:nvPr/>
        </p:nvSpPr>
        <p:spPr>
          <a:xfrm>
            <a:off x="1197864" y="4828032"/>
            <a:ext cx="4910328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50">
                <a:solidFill>
                  <a:srgbClr val="2E1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Swap ayuda cuando la RAM se llena, aunque es más lenta.</a:t>
            </a:r>
            <a:endParaRPr lang="en-US" sz="1450"/>
          </a:p>
        </p:txBody>
      </p:sp>
      <p:pic>
        <p:nvPicPr>
          <p:cNvPr id="19" name="Image 2" descr="/mnt/data/ucjc_assets/crop_partition_screen.png"/>
          <p:cNvPicPr>
            <a:picLocks noChangeAspect="1"/>
          </p:cNvPicPr>
          <p:nvPr/>
        </p:nvPicPr>
        <p:blipFill>
          <a:blip r:embed="rId5"/>
          <a:srcRect l="-342" t="6218" r="-237" b="271"/>
          <a:stretch>
            <a:fillRect/>
          </a:stretch>
        </p:blipFill>
        <p:spPr>
          <a:xfrm>
            <a:off x="6131915" y="1134951"/>
            <a:ext cx="5711890" cy="3193253"/>
          </a:xfrm>
          <a:prstGeom prst="rect">
            <a:avLst/>
          </a:prstGeom>
        </p:spPr>
      </p:pic>
      <p:pic>
        <p:nvPicPr>
          <p:cNvPr id="21" name="Image 3" descr="/mnt/data/ucjc_assets/crop_partition_check.png"/>
          <p:cNvPicPr>
            <a:picLocks noChangeAspect="1"/>
          </p:cNvPicPr>
          <p:nvPr/>
        </p:nvPicPr>
        <p:blipFill>
          <a:blip r:embed="rId6"/>
          <a:srcRect l="12625" t="27875" r="10549" b="46291"/>
          <a:stretch>
            <a:fillRect/>
          </a:stretch>
        </p:blipFill>
        <p:spPr>
          <a:xfrm>
            <a:off x="6126040" y="4830350"/>
            <a:ext cx="5715526" cy="8903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5961888"/>
            <a:ext cx="713232" cy="713232"/>
          </a:xfrm>
          <a:prstGeom prst="ellipse">
            <a:avLst/>
          </a:prstGeom>
          <a:solidFill>
            <a:srgbClr val="FFFFFF">
              <a:alpha val="0"/>
            </a:srgbClr>
          </a:solidFill>
          <a:ln w="13970">
            <a:solidFill>
              <a:srgbClr val="7A0F2E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11283696" y="91440"/>
            <a:ext cx="713232" cy="713232"/>
          </a:xfrm>
          <a:prstGeom prst="ellipse">
            <a:avLst/>
          </a:prstGeom>
          <a:solidFill>
            <a:srgbClr val="FFFFFF">
              <a:alpha val="0"/>
            </a:srgbClr>
          </a:solidFill>
          <a:ln w="13970">
            <a:solidFill>
              <a:srgbClr val="7A0F2E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4" name="Image 0" descr="/mnt/data/ucjc_assets/ucjc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2823" y="219456"/>
            <a:ext cx="1231353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86200" y="651052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>
                <a:solidFill>
                  <a:srgbClr val="7A0F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Administración y servicios de sistemas operativos</a:t>
            </a:r>
            <a:endParaRPr lang="en-US" sz="850"/>
          </a:p>
        </p:txBody>
      </p:sp>
      <p:sp>
        <p:nvSpPr>
          <p:cNvPr id="6" name="Text 3"/>
          <p:cNvSpPr/>
          <p:nvPr/>
        </p:nvSpPr>
        <p:spPr>
          <a:xfrm>
            <a:off x="685800" y="31089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7A0F2E"/>
                </a:solidFill>
              </a:rPr>
              <a:t>Identidad del sistema</a:t>
            </a:r>
            <a:endParaRPr lang="en-US" sz="1050"/>
          </a:p>
        </p:txBody>
      </p:sp>
      <p:sp>
        <p:nvSpPr>
          <p:cNvPr id="7" name="Text 4"/>
          <p:cNvSpPr/>
          <p:nvPr/>
        </p:nvSpPr>
        <p:spPr>
          <a:xfrm>
            <a:off x="685800" y="6217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>
                <a:solidFill>
                  <a:srgbClr val="7A0F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Hostname y usuario administrador</a:t>
            </a:r>
            <a:endParaRPr lang="en-US" sz="2700"/>
          </a:p>
        </p:txBody>
      </p:sp>
      <p:sp>
        <p:nvSpPr>
          <p:cNvPr id="8" name="Shape 5"/>
          <p:cNvSpPr/>
          <p:nvPr/>
        </p:nvSpPr>
        <p:spPr>
          <a:xfrm>
            <a:off x="685800" y="1234440"/>
            <a:ext cx="1965960" cy="0"/>
          </a:xfrm>
          <a:prstGeom prst="line">
            <a:avLst/>
          </a:prstGeom>
          <a:noFill/>
          <a:ln w="25400">
            <a:solidFill>
              <a:srgbClr val="7A0F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868680" y="160934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7A0F2E"/>
                </a:solidFill>
              </a:rPr>
              <a:t>server-asio-esa</a:t>
            </a:r>
            <a:endParaRPr lang="en-US" sz="2600"/>
          </a:p>
        </p:txBody>
      </p:sp>
      <p:sp>
        <p:nvSpPr>
          <p:cNvPr id="10" name="Text 7"/>
          <p:cNvSpPr/>
          <p:nvPr/>
        </p:nvSpPr>
        <p:spPr>
          <a:xfrm>
            <a:off x="877824" y="2212848"/>
            <a:ext cx="489204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00">
                <a:solidFill>
                  <a:srgbClr val="2E1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Hostname configurado durante la instalación para identificar la máquina en red y en la consola.</a:t>
            </a:r>
            <a:endParaRPr lang="en-US" sz="1500"/>
          </a:p>
        </p:txBody>
      </p:sp>
      <p:sp>
        <p:nvSpPr>
          <p:cNvPr id="11" name="Text 8"/>
          <p:cNvSpPr/>
          <p:nvPr/>
        </p:nvSpPr>
        <p:spPr>
          <a:xfrm>
            <a:off x="868680" y="2999232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7A0F2E"/>
                </a:solidFill>
              </a:rPr>
              <a:t>Usuario: alex · Grupo: sudo</a:t>
            </a:r>
            <a:endParaRPr lang="en-US" sz="2000"/>
          </a:p>
        </p:txBody>
      </p:sp>
      <p:sp>
        <p:nvSpPr>
          <p:cNvPr id="12" name="Text 9"/>
          <p:cNvSpPr/>
          <p:nvPr/>
        </p:nvSpPr>
        <p:spPr>
          <a:xfrm>
            <a:off x="877824" y="3547872"/>
            <a:ext cx="48920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00">
                <a:solidFill>
                  <a:srgbClr val="2E1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cuenta root no se usa para iniciar sesión directamente; las tareas administrativas se elevan con sudo.</a:t>
            </a:r>
            <a:endParaRPr lang="en-US" sz="1500"/>
          </a:p>
        </p:txBody>
      </p:sp>
      <p:pic>
        <p:nvPicPr>
          <p:cNvPr id="14" name="Image 1" descr="/mnt/data/ucjc_assets/crop_hostname_profile.png"/>
          <p:cNvPicPr>
            <a:picLocks noChangeAspect="1"/>
          </p:cNvPicPr>
          <p:nvPr/>
        </p:nvPicPr>
        <p:blipFill>
          <a:blip r:embed="rId4"/>
          <a:srcRect l="-333" t="1613" r="-460" b="45181"/>
          <a:stretch>
            <a:fillRect/>
          </a:stretch>
        </p:blipFill>
        <p:spPr>
          <a:xfrm>
            <a:off x="5843553" y="1127682"/>
            <a:ext cx="6351600" cy="2070543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F22B6A50-95D6-A066-24D6-27F9CD334B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0122" y="4019167"/>
            <a:ext cx="6250803" cy="111342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5961888"/>
            <a:ext cx="713232" cy="713232"/>
          </a:xfrm>
          <a:prstGeom prst="ellipse">
            <a:avLst/>
          </a:prstGeom>
          <a:solidFill>
            <a:srgbClr val="FFFFFF">
              <a:alpha val="0"/>
            </a:srgbClr>
          </a:solidFill>
          <a:ln w="13970">
            <a:solidFill>
              <a:srgbClr val="7A0F2E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11283696" y="91440"/>
            <a:ext cx="713232" cy="713232"/>
          </a:xfrm>
          <a:prstGeom prst="ellipse">
            <a:avLst/>
          </a:prstGeom>
          <a:solidFill>
            <a:srgbClr val="FFFFFF">
              <a:alpha val="0"/>
            </a:srgbClr>
          </a:solidFill>
          <a:ln w="13970">
            <a:solidFill>
              <a:srgbClr val="7A0F2E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4" name="Image 0" descr="/mnt/data/ucjc_assets/ucjc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2823" y="219456"/>
            <a:ext cx="1231353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86200" y="651052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>
                <a:solidFill>
                  <a:srgbClr val="7A0F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Administración y servicios de sistemas operativos</a:t>
            </a:r>
            <a:endParaRPr lang="en-US" sz="850"/>
          </a:p>
        </p:txBody>
      </p:sp>
      <p:sp>
        <p:nvSpPr>
          <p:cNvPr id="6" name="Text 3"/>
          <p:cNvSpPr/>
          <p:nvPr/>
        </p:nvSpPr>
        <p:spPr>
          <a:xfrm>
            <a:off x="685800" y="31089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7A0F2E"/>
                </a:solidFill>
              </a:rPr>
              <a:t>Comprobaciones</a:t>
            </a:r>
            <a:endParaRPr lang="en-US" sz="1050"/>
          </a:p>
        </p:txBody>
      </p:sp>
      <p:sp>
        <p:nvSpPr>
          <p:cNvPr id="7" name="Text 4"/>
          <p:cNvSpPr/>
          <p:nvPr/>
        </p:nvSpPr>
        <p:spPr>
          <a:xfrm>
            <a:off x="685800" y="6217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>
                <a:solidFill>
                  <a:srgbClr val="7A0F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OpenSSH y validación final</a:t>
            </a:r>
            <a:endParaRPr lang="en-US" sz="2700"/>
          </a:p>
        </p:txBody>
      </p:sp>
      <p:sp>
        <p:nvSpPr>
          <p:cNvPr id="8" name="Shape 5"/>
          <p:cNvSpPr/>
          <p:nvPr/>
        </p:nvSpPr>
        <p:spPr>
          <a:xfrm>
            <a:off x="685800" y="1234440"/>
            <a:ext cx="1965960" cy="0"/>
          </a:xfrm>
          <a:prstGeom prst="line">
            <a:avLst/>
          </a:prstGeom>
          <a:noFill/>
          <a:ln w="25400">
            <a:solidFill>
              <a:srgbClr val="7A0F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0" name="Image 1" descr="/mnt/data/ucjc_assets/crop_ssh_install.png"/>
          <p:cNvPicPr>
            <a:picLocks noChangeAspect="1"/>
          </p:cNvPicPr>
          <p:nvPr/>
        </p:nvPicPr>
        <p:blipFill>
          <a:blip r:embed="rId4"/>
          <a:srcRect l="5309" t="201" r="5099" b="19922"/>
          <a:stretch>
            <a:fillRect/>
          </a:stretch>
        </p:blipFill>
        <p:spPr>
          <a:xfrm>
            <a:off x="687889" y="1304570"/>
            <a:ext cx="4972804" cy="27446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543726" y="237826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>
                <a:solidFill>
                  <a:srgbClr val="7A0F2E"/>
                </a:solidFill>
              </a:rPr>
              <a:t>Evidencias clave</a:t>
            </a:r>
            <a:endParaRPr lang="en-US" sz="2100"/>
          </a:p>
        </p:txBody>
      </p:sp>
      <p:sp>
        <p:nvSpPr>
          <p:cNvPr id="14" name="Shape 9"/>
          <p:cNvSpPr/>
          <p:nvPr/>
        </p:nvSpPr>
        <p:spPr>
          <a:xfrm>
            <a:off x="6589446" y="3073208"/>
            <a:ext cx="256032" cy="0"/>
          </a:xfrm>
          <a:prstGeom prst="line">
            <a:avLst/>
          </a:prstGeom>
          <a:noFill/>
          <a:ln w="27940">
            <a:solidFill>
              <a:srgbClr val="7A0F2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0"/>
          <p:cNvSpPr/>
          <p:nvPr/>
        </p:nvSpPr>
        <p:spPr>
          <a:xfrm>
            <a:off x="6936918" y="2908616"/>
            <a:ext cx="4178808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50">
                <a:solidFill>
                  <a:srgbClr val="2E1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OpenSSH instalado durante el asistente.</a:t>
            </a:r>
            <a:endParaRPr lang="en-US" sz="1450"/>
          </a:p>
        </p:txBody>
      </p:sp>
      <p:sp>
        <p:nvSpPr>
          <p:cNvPr id="16" name="Shape 11"/>
          <p:cNvSpPr/>
          <p:nvPr/>
        </p:nvSpPr>
        <p:spPr>
          <a:xfrm>
            <a:off x="6589446" y="3594416"/>
            <a:ext cx="256032" cy="0"/>
          </a:xfrm>
          <a:prstGeom prst="line">
            <a:avLst/>
          </a:prstGeom>
          <a:noFill/>
          <a:ln w="27940">
            <a:solidFill>
              <a:srgbClr val="7A0F2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2"/>
          <p:cNvSpPr/>
          <p:nvPr/>
        </p:nvSpPr>
        <p:spPr>
          <a:xfrm>
            <a:off x="6936918" y="3429824"/>
            <a:ext cx="4178808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50">
                <a:solidFill>
                  <a:srgbClr val="2E1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servicio ssh aparece activo y ejecutándose.</a:t>
            </a:r>
            <a:endParaRPr lang="en-US" sz="1450"/>
          </a:p>
        </p:txBody>
      </p:sp>
      <p:sp>
        <p:nvSpPr>
          <p:cNvPr id="18" name="Shape 13"/>
          <p:cNvSpPr/>
          <p:nvPr/>
        </p:nvSpPr>
        <p:spPr>
          <a:xfrm>
            <a:off x="6589446" y="4115624"/>
            <a:ext cx="256032" cy="0"/>
          </a:xfrm>
          <a:prstGeom prst="line">
            <a:avLst/>
          </a:prstGeom>
          <a:noFill/>
          <a:ln w="27940">
            <a:solidFill>
              <a:srgbClr val="7A0F2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4"/>
          <p:cNvSpPr/>
          <p:nvPr/>
        </p:nvSpPr>
        <p:spPr>
          <a:xfrm>
            <a:off x="6936918" y="3951032"/>
            <a:ext cx="4178808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50">
                <a:solidFill>
                  <a:srgbClr val="2E1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VM queda preparada para administración remota.</a:t>
            </a:r>
            <a:endParaRPr lang="en-US" sz="1450"/>
          </a:p>
        </p:txBody>
      </p:sp>
      <p:sp>
        <p:nvSpPr>
          <p:cNvPr id="20" name="Shape 15"/>
          <p:cNvSpPr/>
          <p:nvPr/>
        </p:nvSpPr>
        <p:spPr>
          <a:xfrm>
            <a:off x="6589446" y="4636832"/>
            <a:ext cx="256032" cy="0"/>
          </a:xfrm>
          <a:prstGeom prst="line">
            <a:avLst/>
          </a:prstGeom>
          <a:noFill/>
          <a:ln w="27940">
            <a:solidFill>
              <a:srgbClr val="7A0F2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6"/>
          <p:cNvSpPr/>
          <p:nvPr/>
        </p:nvSpPr>
        <p:spPr>
          <a:xfrm>
            <a:off x="6936918" y="4472240"/>
            <a:ext cx="4178808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50">
                <a:solidFill>
                  <a:srgbClr val="2E1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NAT, el acceso externo requiere redirección de puertos.</a:t>
            </a:r>
            <a:endParaRPr lang="en-US" sz="145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6B524AFE-63E3-2B46-627D-350A089A9C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882" y="4176240"/>
            <a:ext cx="5051809" cy="192671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5961888"/>
            <a:ext cx="713232" cy="713232"/>
          </a:xfrm>
          <a:prstGeom prst="ellipse">
            <a:avLst/>
          </a:prstGeom>
          <a:solidFill>
            <a:srgbClr val="FFFFFF">
              <a:alpha val="0"/>
            </a:srgbClr>
          </a:solidFill>
          <a:ln w="13970">
            <a:solidFill>
              <a:srgbClr val="7A0F2E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11283696" y="91440"/>
            <a:ext cx="713232" cy="713232"/>
          </a:xfrm>
          <a:prstGeom prst="ellipse">
            <a:avLst/>
          </a:prstGeom>
          <a:solidFill>
            <a:srgbClr val="FFFFFF">
              <a:alpha val="0"/>
            </a:srgbClr>
          </a:solidFill>
          <a:ln w="13970">
            <a:solidFill>
              <a:srgbClr val="7A0F2E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4" name="Image 0" descr="/mnt/data/ucjc_assets/ucjc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2823" y="219456"/>
            <a:ext cx="1231353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86200" y="651052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>
                <a:solidFill>
                  <a:srgbClr val="7A0F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850"/>
          </a:p>
        </p:txBody>
      </p:sp>
      <p:sp>
        <p:nvSpPr>
          <p:cNvPr id="25" name="Text 22"/>
          <p:cNvSpPr/>
          <p:nvPr/>
        </p:nvSpPr>
        <p:spPr>
          <a:xfrm>
            <a:off x="3574480" y="2257580"/>
            <a:ext cx="5039909" cy="2340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>
                <a:solidFill>
                  <a:srgbClr val="7A0F2E"/>
                </a:solidFill>
              </a:rPr>
              <a:t>Fin</a:t>
            </a:r>
            <a:endParaRPr lang="en-US" sz="6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0CC95042A7E1D4F9D572A35C11618B8" ma:contentTypeVersion="10" ma:contentTypeDescription="Crear nuevo documento." ma:contentTypeScope="" ma:versionID="7bb5308908b198a50b8bd0a9358af632">
  <xsd:schema xmlns:xsd="http://www.w3.org/2001/XMLSchema" xmlns:xs="http://www.w3.org/2001/XMLSchema" xmlns:p="http://schemas.microsoft.com/office/2006/metadata/properties" xmlns:ns3="e8c11046-14d6-41bb-9803-70ff94d199ea" targetNamespace="http://schemas.microsoft.com/office/2006/metadata/properties" ma:root="true" ma:fieldsID="074ef89bc40d7b546c2b6dcf908b6eba" ns3:_="">
    <xsd:import namespace="e8c11046-14d6-41bb-9803-70ff94d199e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c11046-14d6-41bb-9803-70ff94d199e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8c11046-14d6-41bb-9803-70ff94d199ea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BEB50D3-312F-403D-A218-00554BF46775}">
  <ds:schemaRefs>
    <ds:schemaRef ds:uri="e8c11046-14d6-41bb-9803-70ff94d199e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DF198E08-E751-49AD-8BCD-24540A56031A}">
  <ds:schemaRefs>
    <ds:schemaRef ds:uri="e8c11046-14d6-41bb-9803-70ff94d199e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9B64B31-89E3-457C-B647-8F6CABB5908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</Slides>
  <Notes>10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Universidad Camilo José Cela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Práctica 1: Ubuntu Server en VirtualBox</dc:title>
  <dc:subject>Defensa Práctica 1 - Administración y Servicios de Sistemas Operativos</dc:subject>
  <dc:creator>Eduardo</dc:creator>
  <cp:revision>2</cp:revision>
  <dcterms:created xsi:type="dcterms:W3CDTF">2026-10-03T09:49:28Z</dcterms:created>
  <dcterms:modified xsi:type="dcterms:W3CDTF">2026-10-04T15:50:04Z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0x01010090CC95042A7E1D4F9D572A35C11618B8</vt:lpwstr>
  </property>
</Properties>
</file>